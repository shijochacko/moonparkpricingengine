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8D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98480" y="146304"/>
            <a:ext cx="1097280" cy="1097280"/>
          </a:xfrm>
          <a:prstGeom prst="ellipse">
            <a:avLst/>
          </a:prstGeom>
          <a:solidFill>
            <a:srgbClr val="11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96012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48DFC0"/>
                </a:solidFill>
                <a:latin typeface="Aptos"/>
              </a:defRPr>
            </a:pPr>
            <a:r>
              <a:t>MOONPARK  /  INTERVIEW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155680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F2F7FC"/>
                </a:solidFill>
                <a:latin typeface="Aptos"/>
              </a:defRPr>
            </a:pPr>
            <a:r>
              <a:t>MoonPark Pricing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463040"/>
            <a:ext cx="10972800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A9BDD1"/>
                </a:solidFill>
                <a:latin typeface="Aptos"/>
              </a:defRPr>
            </a:pPr>
            <a:r>
              <a:t>A secure, extensible parking-pricing API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55664"/>
            <a:ext cx="11064240" cy="13716"/>
          </a:xfrm>
          <a:prstGeom prst="rect">
            <a:avLst/>
          </a:prstGeom>
          <a:solidFill>
            <a:srgbClr val="29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6455664"/>
            <a:ext cx="691515" cy="22860"/>
          </a:xfrm>
          <a:prstGeom prst="rect">
            <a:avLst/>
          </a:prstGeom>
          <a:solidFill>
            <a:srgbClr val="48D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9966960" cy="1828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A9BDD1"/>
                </a:solidFill>
                <a:latin typeface="Aptos"/>
              </a:defRPr>
            </a:pPr>
            <a:r>
              <a:t>Based on application source | Configuration is not a performance benchmark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547104"/>
            <a:ext cx="685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A9BDD1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423160"/>
            <a:ext cx="6858000" cy="1554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500"/>
              </a:spcAft>
              <a:defRPr sz="4600" b="1">
                <a:solidFill>
                  <a:srgbClr val="F2F7FC"/>
                </a:solidFill>
                <a:latin typeface="Aptos"/>
              </a:defRPr>
            </a:pPr>
            <a:r>
              <a:t>Complex rules.</a:t>
            </a:r>
          </a:p>
          <a:p>
            <a:pPr>
              <a:spcAft>
                <a:spcPts val="500"/>
              </a:spcAft>
              <a:defRPr sz="4600" b="1">
                <a:solidFill>
                  <a:srgbClr val="F2F7FC"/>
                </a:solidFill>
                <a:latin typeface="Aptos"/>
              </a:defRPr>
            </a:pPr>
            <a:r>
              <a:t>Clear answers.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4251960"/>
            <a:ext cx="6217920" cy="5029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A9BDD1"/>
                </a:solidFill>
                <a:latin typeface="Aptos"/>
              </a:defRPr>
            </a:pPr>
            <a:r>
              <a:t>Java 25  /  Spring Boot  /  PostgreSQL  /  Redis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0" y="2148840"/>
            <a:ext cx="2423160" cy="2423160"/>
          </a:xfrm>
          <a:prstGeom prst="ellipse">
            <a:avLst/>
          </a:prstGeom>
          <a:solidFill>
            <a:srgbClr val="192C44"/>
          </a:solidFill>
          <a:ln w="19050">
            <a:solidFill>
              <a:srgbClr val="48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96528" y="2395728"/>
            <a:ext cx="1645920" cy="11887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7600" b="1">
                <a:solidFill>
                  <a:srgbClr val="48DFC0"/>
                </a:solidFill>
                <a:latin typeface="Aptos"/>
              </a:defRPr>
            </a:pPr>
            <a:r>
              <a:t>P</a:t>
            </a:r>
          </a:p>
        </p:txBody>
      </p:sp>
      <p:sp>
        <p:nvSpPr>
          <p:cNvPr id="15" name="Trapezoid 14"/>
          <p:cNvSpPr/>
          <p:nvPr/>
        </p:nvSpPr>
        <p:spPr>
          <a:xfrm>
            <a:off x="7991855" y="4251960"/>
            <a:ext cx="2057400" cy="938174"/>
          </a:xfrm>
          <a:prstGeom prst="trapezoid">
            <a:avLst/>
          </a:prstGeom>
          <a:solidFill>
            <a:srgbClr val="48D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98079" y="4910328"/>
            <a:ext cx="3127248" cy="822960"/>
          </a:xfrm>
          <a:prstGeom prst="roundRect">
            <a:avLst>
              <a:gd name="adj" fmla="val 13000"/>
            </a:avLst>
          </a:prstGeom>
          <a:solidFill>
            <a:srgbClr val="48D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991855" y="5437022"/>
            <a:ext cx="576072" cy="576072"/>
          </a:xfrm>
          <a:prstGeom prst="ellipse">
            <a:avLst/>
          </a:prstGeom>
          <a:solidFill>
            <a:srgbClr val="0C192B"/>
          </a:solidFill>
          <a:ln w="19050">
            <a:solidFill>
              <a:srgbClr val="A9BD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37776" y="5437022"/>
            <a:ext cx="576072" cy="576072"/>
          </a:xfrm>
          <a:prstGeom prst="ellipse">
            <a:avLst/>
          </a:prstGeom>
          <a:solidFill>
            <a:srgbClr val="0C192B"/>
          </a:solidFill>
          <a:ln w="19050">
            <a:solidFill>
              <a:srgbClr val="A9BD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5184648"/>
            <a:ext cx="1828800" cy="411480"/>
          </a:xfrm>
          <a:prstGeom prst="roundRect">
            <a:avLst>
              <a:gd name="adj" fmla="val 13000"/>
            </a:avLst>
          </a:prstGeom>
          <a:solidFill>
            <a:srgbClr val="22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" y="5266944"/>
            <a:ext cx="173736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48DFC0"/>
                </a:solidFill>
                <a:latin typeface="Aptos"/>
              </a:defRPr>
            </a:pPr>
            <a:r>
              <a:t>CORRECT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24912" y="5184648"/>
            <a:ext cx="1828800" cy="411480"/>
          </a:xfrm>
          <a:prstGeom prst="roundRect">
            <a:avLst>
              <a:gd name="adj" fmla="val 13000"/>
            </a:avLst>
          </a:prstGeom>
          <a:solidFill>
            <a:srgbClr val="22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70632" y="5266944"/>
            <a:ext cx="173736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48DFC0"/>
                </a:solidFill>
                <a:latin typeface="Aptos"/>
              </a:defRPr>
            </a:pPr>
            <a:r>
              <a:t>SECURE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36592" y="5184648"/>
            <a:ext cx="1828800" cy="411480"/>
          </a:xfrm>
          <a:prstGeom prst="roundRect">
            <a:avLst>
              <a:gd name="adj" fmla="val 13000"/>
            </a:avLst>
          </a:prstGeom>
          <a:solidFill>
            <a:srgbClr val="22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82312" y="5266944"/>
            <a:ext cx="173736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48DFC0"/>
                </a:solidFill>
                <a:latin typeface="Aptos"/>
              </a:defRPr>
            </a:pPr>
            <a:r>
              <a:t>EXTENSIBLE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8D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98480" y="146304"/>
            <a:ext cx="1097280" cy="1097280"/>
          </a:xfrm>
          <a:prstGeom prst="ellipse">
            <a:avLst/>
          </a:prstGeom>
          <a:solidFill>
            <a:srgbClr val="11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96012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48DFC0"/>
                </a:solidFill>
                <a:latin typeface="Aptos"/>
              </a:defRPr>
            </a:pPr>
            <a:r>
              <a:t>MOONPARK  /  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155680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F2F7FC"/>
                </a:solidFill>
                <a:latin typeface="Aptos"/>
              </a:defRPr>
            </a:pPr>
            <a:r>
              <a:t>Same parking session. Different pricing logic.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463040"/>
            <a:ext cx="10972800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A9BDD1"/>
                </a:solidFill>
                <a:latin typeface="Aptos"/>
              </a:defRPr>
            </a:pPr>
            <a:r>
              <a:t>The zone decides how time becomes money.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55664"/>
            <a:ext cx="11064240" cy="13716"/>
          </a:xfrm>
          <a:prstGeom prst="rect">
            <a:avLst/>
          </a:prstGeom>
          <a:solidFill>
            <a:srgbClr val="29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6455664"/>
            <a:ext cx="1383030" cy="22860"/>
          </a:xfrm>
          <a:prstGeom prst="rect">
            <a:avLst/>
          </a:prstGeom>
          <a:solidFill>
            <a:srgbClr val="48D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9966960" cy="1828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A9BDD1"/>
                </a:solidFill>
                <a:latin typeface="Aptos"/>
              </a:defRPr>
            </a:pPr>
            <a:r>
              <a:t>Sources: README.md; model/domain/tariff | Seeded default rules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547104"/>
            <a:ext cx="685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A9BDD1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057400"/>
            <a:ext cx="3474720" cy="3429000"/>
          </a:xfrm>
          <a:prstGeom prst="roundRect">
            <a:avLst>
              <a:gd name="adj" fmla="val 13000"/>
            </a:avLst>
          </a:prstGeom>
          <a:solidFill>
            <a:srgbClr val="192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267712"/>
            <a:ext cx="320040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2000" b="1">
                <a:solidFill>
                  <a:srgbClr val="48DFC0"/>
                </a:solidFill>
                <a:latin typeface="Aptos"/>
              </a:defRPr>
            </a:pPr>
            <a:r>
              <a:t>M1  /  MINUTES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2057400"/>
            <a:ext cx="3474720" cy="3429000"/>
          </a:xfrm>
          <a:prstGeom prst="roundRect">
            <a:avLst>
              <a:gd name="adj" fmla="val 13000"/>
            </a:avLst>
          </a:prstGeom>
          <a:solidFill>
            <a:srgbClr val="192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2267712"/>
            <a:ext cx="320040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2000" b="1">
                <a:solidFill>
                  <a:srgbClr val="80B8FF"/>
                </a:solidFill>
                <a:latin typeface="Aptos"/>
              </a:defRPr>
            </a:pPr>
            <a:r>
              <a:t>M2  /  HOURS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2057400"/>
            <a:ext cx="3474720" cy="3429000"/>
          </a:xfrm>
          <a:prstGeom prst="roundRect">
            <a:avLst>
              <a:gd name="adj" fmla="val 13000"/>
            </a:avLst>
          </a:prstGeom>
          <a:solidFill>
            <a:srgbClr val="192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267712"/>
            <a:ext cx="320040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2000" b="1">
                <a:solidFill>
                  <a:srgbClr val="FFCB77"/>
                </a:solidFill>
                <a:latin typeface="Aptos"/>
              </a:defRPr>
            </a:pPr>
            <a:r>
              <a:t>M3  /  TIME WINDOWS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063240"/>
            <a:ext cx="329184" cy="548640"/>
          </a:xfrm>
          <a:prstGeom prst="roundRect">
            <a:avLst>
              <a:gd name="adj" fmla="val 13000"/>
            </a:avLst>
          </a:prstGeom>
          <a:solidFill>
            <a:srgbClr val="48D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271016" y="3063240"/>
            <a:ext cx="329184" cy="548640"/>
          </a:xfrm>
          <a:prstGeom prst="roundRect">
            <a:avLst>
              <a:gd name="adj" fmla="val 13000"/>
            </a:avLst>
          </a:prstGeom>
          <a:solidFill>
            <a:srgbClr val="48D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719072" y="3063240"/>
            <a:ext cx="329184" cy="548640"/>
          </a:xfrm>
          <a:prstGeom prst="roundRect">
            <a:avLst>
              <a:gd name="adj" fmla="val 13000"/>
            </a:avLst>
          </a:prstGeom>
          <a:solidFill>
            <a:srgbClr val="48D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167128" y="3063240"/>
            <a:ext cx="329184" cy="548640"/>
          </a:xfrm>
          <a:prstGeom prst="roundRect">
            <a:avLst>
              <a:gd name="adj" fmla="val 13000"/>
            </a:avLst>
          </a:prstGeom>
          <a:solidFill>
            <a:srgbClr val="48D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615184" y="3063240"/>
            <a:ext cx="329184" cy="548640"/>
          </a:xfrm>
          <a:prstGeom prst="roundRect">
            <a:avLst>
              <a:gd name="adj" fmla="val 13000"/>
            </a:avLst>
          </a:prstGeom>
          <a:solidFill>
            <a:srgbClr val="48D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063240" y="3063240"/>
            <a:ext cx="329184" cy="548640"/>
          </a:xfrm>
          <a:prstGeom prst="roundRect">
            <a:avLst>
              <a:gd name="adj" fmla="val 13000"/>
            </a:avLst>
          </a:prstGeom>
          <a:solidFill>
            <a:srgbClr val="48D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858768"/>
            <a:ext cx="2926080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2000" b="1">
                <a:solidFill>
                  <a:srgbClr val="F2F7FC"/>
                </a:solidFill>
                <a:latin typeface="Aptos"/>
              </a:defRPr>
            </a:pPr>
            <a:r>
              <a:t>1 started minute = 1 NOK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690872"/>
            <a:ext cx="2926080" cy="4754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800" b="0">
                <a:solidFill>
                  <a:srgbClr val="48DFC0"/>
                </a:solidFill>
                <a:latin typeface="Aptos"/>
              </a:defRPr>
            </a:pPr>
            <a:r>
              <a:t>61 minutes  &gt;  61 NOK</a:t>
            </a:r>
          </a:p>
        </p:txBody>
      </p:sp>
      <p:sp>
        <p:nvSpPr>
          <p:cNvPr id="25" name="Oval 24"/>
          <p:cNvSpPr/>
          <p:nvPr/>
        </p:nvSpPr>
        <p:spPr>
          <a:xfrm>
            <a:off x="4800600" y="2944368"/>
            <a:ext cx="932688" cy="932688"/>
          </a:xfrm>
          <a:prstGeom prst="ellipse">
            <a:avLst/>
          </a:prstGeom>
          <a:solidFill>
            <a:srgbClr val="192C44"/>
          </a:solidFill>
          <a:ln w="19050">
            <a:solidFill>
              <a:srgbClr val="80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64608" y="3205520"/>
            <a:ext cx="804672" cy="531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2300" b="1">
                <a:solidFill>
                  <a:srgbClr val="80B8FF"/>
                </a:solidFill>
                <a:latin typeface="Aptos"/>
              </a:defRPr>
            </a:pPr>
            <a:r>
              <a:t>1h</a:t>
            </a:r>
          </a:p>
        </p:txBody>
      </p:sp>
      <p:sp>
        <p:nvSpPr>
          <p:cNvPr id="27" name="Oval 26"/>
          <p:cNvSpPr/>
          <p:nvPr/>
        </p:nvSpPr>
        <p:spPr>
          <a:xfrm>
            <a:off x="6419088" y="2944368"/>
            <a:ext cx="932688" cy="932688"/>
          </a:xfrm>
          <a:prstGeom prst="ellipse">
            <a:avLst/>
          </a:prstGeom>
          <a:solidFill>
            <a:srgbClr val="192C44"/>
          </a:solidFill>
          <a:ln w="19050">
            <a:solidFill>
              <a:srgbClr val="80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83096" y="3205520"/>
            <a:ext cx="804672" cy="531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2300" b="1">
                <a:solidFill>
                  <a:srgbClr val="80B8FF"/>
                </a:solidFill>
                <a:latin typeface="Aptos"/>
              </a:defRPr>
            </a:pPr>
            <a:r>
              <a:t>1h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4114800"/>
            <a:ext cx="2926080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F2F7FC"/>
                </a:solidFill>
                <a:latin typeface="Aptos"/>
              </a:defRPr>
            </a:pPr>
            <a:r>
              <a:t>Weekday 100 / Weekend 200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81728" y="4773168"/>
            <a:ext cx="274320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700" b="0">
                <a:solidFill>
                  <a:srgbClr val="A9BDD1"/>
                </a:solidFill>
                <a:latin typeface="Aptos"/>
              </a:defRPr>
            </a:pPr>
            <a:r>
              <a:t>NOK per started hour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30768" y="2852928"/>
            <a:ext cx="2971800" cy="3474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FFCB77"/>
                </a:solidFill>
                <a:latin typeface="Aptos"/>
              </a:defRPr>
            </a:pPr>
            <a:r>
              <a:t>MON-SAT  /  08:00-16:00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412480" y="3447288"/>
            <a:ext cx="1143000" cy="429768"/>
          </a:xfrm>
          <a:prstGeom prst="roundRect">
            <a:avLst>
              <a:gd name="adj" fmla="val 13000"/>
            </a:avLst>
          </a:prstGeom>
          <a:solidFill>
            <a:srgbClr val="48D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601200" y="3447288"/>
            <a:ext cx="1828800" cy="429768"/>
          </a:xfrm>
          <a:prstGeom prst="roundRect">
            <a:avLst>
              <a:gd name="adj" fmla="val 13000"/>
            </a:avLst>
          </a:prstGeom>
          <a:solidFill>
            <a:srgbClr val="FFC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0" y="4023360"/>
            <a:ext cx="3017520" cy="7772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700" b="0">
                <a:solidFill>
                  <a:srgbClr val="F2F7FC"/>
                </a:solidFill>
                <a:latin typeface="Aptos"/>
              </a:defRPr>
            </a:pPr>
            <a:r>
              <a:t>First 60 daytime min free</a:t>
            </a:r>
          </a:p>
          <a:p>
            <a:pPr algn="ctr">
              <a:spcAft>
                <a:spcPts val="500"/>
              </a:spcAft>
              <a:defRPr sz="1700" b="0">
                <a:solidFill>
                  <a:srgbClr val="F2F7FC"/>
                </a:solidFill>
                <a:latin typeface="Aptos"/>
              </a:defRPr>
            </a:pPr>
            <a:r>
              <a:t>Then 2 NOK/started min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4919472"/>
            <a:ext cx="301752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400" b="0">
                <a:solidFill>
                  <a:srgbClr val="A9BDD1"/>
                </a:solidFill>
                <a:latin typeface="Aptos"/>
              </a:defRPr>
            </a:pPr>
            <a:r>
              <a:t>Outside: 3 NOK/min | Sun: free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5852160"/>
            <a:ext cx="1101852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900" b="1">
                <a:solidFill>
                  <a:srgbClr val="48DFC0"/>
                </a:solidFill>
                <a:latin typeface="Aptos"/>
              </a:defRPr>
            </a:pPr>
            <a:r>
              <a:t>Not just elapsed time. Started units, calendar boundaries and tariff versions.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8D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98480" y="146304"/>
            <a:ext cx="1097280" cy="1097280"/>
          </a:xfrm>
          <a:prstGeom prst="ellipse">
            <a:avLst/>
          </a:prstGeom>
          <a:solidFill>
            <a:srgbClr val="11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96012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48DFC0"/>
                </a:solidFill>
                <a:latin typeface="Aptos"/>
              </a:defRPr>
            </a:pPr>
            <a:r>
              <a:t>MOONPARK  / 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155680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F2F7FC"/>
                </a:solidFill>
                <a:latin typeface="Aptos"/>
              </a:defRPr>
            </a:pPr>
            <a:r>
              <a:t>One application. Clear responsibilities.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463040"/>
            <a:ext cx="10972800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A9BDD1"/>
                </a:solidFill>
                <a:latin typeface="Aptos"/>
              </a:defRPr>
            </a:pPr>
            <a:r>
              <a:t>Solid lines: request path. Dashed lines: supporting data and shared state.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55664"/>
            <a:ext cx="11064240" cy="13716"/>
          </a:xfrm>
          <a:prstGeom prst="rect">
            <a:avLst/>
          </a:prstGeom>
          <a:solidFill>
            <a:srgbClr val="29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6455664"/>
            <a:ext cx="2074544" cy="22860"/>
          </a:xfrm>
          <a:prstGeom prst="rect">
            <a:avLst/>
          </a:prstGeom>
          <a:solidFill>
            <a:srgbClr val="48D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9966960" cy="1828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A9BDD1"/>
                </a:solidFill>
                <a:latin typeface="Aptos"/>
              </a:defRPr>
            </a:pPr>
            <a:r>
              <a:t>Sources: SecurityConfig; FeeCalculationService; CachedTariffRegistry; application.yml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547104"/>
            <a:ext cx="685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A9BDD1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148840"/>
            <a:ext cx="1828800" cy="1078992"/>
          </a:xfrm>
          <a:prstGeom prst="roundRect">
            <a:avLst>
              <a:gd name="adj" fmla="val 13000"/>
            </a:avLst>
          </a:prstGeom>
          <a:solidFill>
            <a:srgbClr val="192C44"/>
          </a:solidFill>
          <a:ln w="19050">
            <a:solidFill>
              <a:srgbClr val="48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" y="2313432"/>
            <a:ext cx="1536192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2000" b="1">
                <a:solidFill>
                  <a:srgbClr val="48DFC0"/>
                </a:solidFill>
                <a:latin typeface="Aptos"/>
              </a:defRPr>
            </a:pPr>
            <a:r>
              <a:t>CALLERS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" y="2779776"/>
            <a:ext cx="1536192" cy="411479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700" b="0">
                <a:solidFill>
                  <a:srgbClr val="F2F7FC"/>
                </a:solidFill>
                <a:latin typeface="Aptos"/>
              </a:defRPr>
            </a:pPr>
            <a:r>
              <a:t>Users / apps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50208"/>
            <a:ext cx="1828800" cy="1078992"/>
          </a:xfrm>
          <a:prstGeom prst="roundRect">
            <a:avLst>
              <a:gd name="adj" fmla="val 13000"/>
            </a:avLst>
          </a:prstGeom>
          <a:solidFill>
            <a:srgbClr val="192C44"/>
          </a:solidFill>
          <a:ln w="19050">
            <a:solidFill>
              <a:srgbClr val="FFC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" y="4114800"/>
            <a:ext cx="1536192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900" b="1">
                <a:solidFill>
                  <a:srgbClr val="FFCB77"/>
                </a:solidFill>
                <a:latin typeface="Aptos"/>
              </a:defRPr>
            </a:pPr>
            <a:r>
              <a:t>HTTPS EDGE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" y="4581144"/>
            <a:ext cx="1536192" cy="411479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700" b="0">
                <a:solidFill>
                  <a:srgbClr val="F2F7FC"/>
                </a:solidFill>
                <a:latin typeface="Aptos"/>
              </a:defRPr>
            </a:pPr>
            <a:r>
              <a:t>External TLS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417320" y="3227832"/>
            <a:ext cx="0" cy="722376"/>
          </a:xfrm>
          <a:prstGeom prst="line">
            <a:avLst/>
          </a:prstGeom>
          <a:ln w="26670">
            <a:solidFill>
              <a:srgbClr val="48DF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880360" y="1993392"/>
            <a:ext cx="5779008" cy="3447288"/>
          </a:xfrm>
          <a:prstGeom prst="roundRect">
            <a:avLst>
              <a:gd name="adj" fmla="val 13000"/>
            </a:avLst>
          </a:prstGeom>
          <a:solidFill>
            <a:srgbClr val="11243A"/>
          </a:solidFill>
          <a:ln w="19050">
            <a:solidFill>
              <a:srgbClr val="48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08960" y="2139696"/>
            <a:ext cx="530352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48DFC0"/>
                </a:solidFill>
                <a:latin typeface="Aptos"/>
              </a:defRPr>
            </a:pPr>
            <a:r>
              <a:t>SPRING BOOT  /  REPEAT PER INSTANCE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18688" y="2761488"/>
            <a:ext cx="2103120" cy="1060704"/>
          </a:xfrm>
          <a:prstGeom prst="roundRect">
            <a:avLst>
              <a:gd name="adj" fmla="val 13000"/>
            </a:avLst>
          </a:prstGeom>
          <a:solidFill>
            <a:srgbClr val="192C44"/>
          </a:solidFill>
          <a:ln w="19050">
            <a:solidFill>
              <a:srgbClr val="48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64992" y="2926080"/>
            <a:ext cx="1810511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900" b="1">
                <a:solidFill>
                  <a:srgbClr val="48DFC0"/>
                </a:solidFill>
                <a:latin typeface="Aptos"/>
              </a:defRPr>
            </a:pPr>
            <a:r>
              <a:t>SECURITY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64992" y="3392424"/>
            <a:ext cx="1810511" cy="39319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700" b="0">
                <a:solidFill>
                  <a:srgbClr val="F2F7FC"/>
                </a:solidFill>
                <a:latin typeface="Aptos"/>
              </a:defRPr>
            </a:pPr>
            <a:r>
              <a:t>Identity &gt; quota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70448" y="2761488"/>
            <a:ext cx="2340864" cy="1060704"/>
          </a:xfrm>
          <a:prstGeom prst="roundRect">
            <a:avLst>
              <a:gd name="adj" fmla="val 13000"/>
            </a:avLst>
          </a:prstGeom>
          <a:solidFill>
            <a:srgbClr val="192C44"/>
          </a:solidFill>
          <a:ln w="19050">
            <a:solidFill>
              <a:srgbClr val="48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16752" y="2926080"/>
            <a:ext cx="2048256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900" b="1">
                <a:solidFill>
                  <a:srgbClr val="48DFC0"/>
                </a:solidFill>
                <a:latin typeface="Aptos"/>
              </a:defRPr>
            </a:pPr>
            <a:r>
              <a:t>PRICING 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16752" y="3392424"/>
            <a:ext cx="2048256" cy="39319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700" b="0">
                <a:solidFill>
                  <a:srgbClr val="F2F7FC"/>
                </a:solidFill>
                <a:latin typeface="Aptos"/>
              </a:defRPr>
            </a:pPr>
            <a:r>
              <a:t>Controller &gt; service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18688" y="4206240"/>
            <a:ext cx="2103120" cy="941832"/>
          </a:xfrm>
          <a:prstGeom prst="roundRect">
            <a:avLst>
              <a:gd name="adj" fmla="val 13000"/>
            </a:avLst>
          </a:prstGeom>
          <a:solidFill>
            <a:srgbClr val="192C44"/>
          </a:solidFill>
          <a:ln w="19050">
            <a:solidFill>
              <a:srgbClr val="80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64992" y="4370831"/>
            <a:ext cx="1810511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80B8FF"/>
                </a:solidFill>
                <a:latin typeface="Aptos"/>
              </a:defRPr>
            </a:pPr>
            <a:r>
              <a:t>LOCAL CACHE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64992" y="4837175"/>
            <a:ext cx="1810511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700" b="0">
                <a:solidFill>
                  <a:srgbClr val="F2F7FC"/>
                </a:solidFill>
                <a:latin typeface="Aptos"/>
              </a:defRPr>
            </a:pPr>
            <a:r>
              <a:t>Fees + tariffs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870448" y="4206240"/>
            <a:ext cx="2340864" cy="941832"/>
          </a:xfrm>
          <a:prstGeom prst="roundRect">
            <a:avLst>
              <a:gd name="adj" fmla="val 13000"/>
            </a:avLst>
          </a:prstGeom>
          <a:solidFill>
            <a:srgbClr val="192C44"/>
          </a:solidFill>
          <a:ln w="19050">
            <a:solidFill>
              <a:srgbClr val="80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16752" y="4370831"/>
            <a:ext cx="2048256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80B8FF"/>
                </a:solidFill>
                <a:latin typeface="Aptos"/>
              </a:defRPr>
            </a:pPr>
            <a:r>
              <a:t>DOMAIN + JPA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16752" y="4837175"/>
            <a:ext cx="2048256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700" b="0">
                <a:solidFill>
                  <a:srgbClr val="F2F7FC"/>
                </a:solidFill>
                <a:latin typeface="Aptos"/>
              </a:defRPr>
            </a:pPr>
            <a:r>
              <a:t>Rules / persistence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331720" y="4480560"/>
            <a:ext cx="292608" cy="0"/>
          </a:xfrm>
          <a:prstGeom prst="line">
            <a:avLst/>
          </a:prstGeom>
          <a:ln w="26670">
            <a:solidFill>
              <a:srgbClr val="48DF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2624328" y="3273552"/>
            <a:ext cx="0" cy="1207008"/>
          </a:xfrm>
          <a:prstGeom prst="line">
            <a:avLst/>
          </a:prstGeom>
          <a:ln w="26670">
            <a:solidFill>
              <a:srgbClr val="48DF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624328" y="3273552"/>
            <a:ext cx="594360" cy="0"/>
          </a:xfrm>
          <a:prstGeom prst="line">
            <a:avLst/>
          </a:prstGeom>
          <a:ln w="26670">
            <a:solidFill>
              <a:srgbClr val="48DF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321808" y="3273552"/>
            <a:ext cx="548640" cy="0"/>
          </a:xfrm>
          <a:prstGeom prst="line">
            <a:avLst/>
          </a:prstGeom>
          <a:ln w="26670">
            <a:solidFill>
              <a:srgbClr val="48DF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040880" y="3822191"/>
            <a:ext cx="0" cy="384049"/>
          </a:xfrm>
          <a:prstGeom prst="line">
            <a:avLst/>
          </a:prstGeom>
          <a:ln w="26670">
            <a:solidFill>
              <a:srgbClr val="48DF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4663440" y="3822191"/>
            <a:ext cx="1783080" cy="384049"/>
          </a:xfrm>
          <a:prstGeom prst="line">
            <a:avLst/>
          </a:prstGeom>
          <a:ln w="26670">
            <a:solidFill>
              <a:srgbClr val="80B8FF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Can 37"/>
          <p:cNvSpPr/>
          <p:nvPr/>
        </p:nvSpPr>
        <p:spPr>
          <a:xfrm>
            <a:off x="9464040" y="2286000"/>
            <a:ext cx="2103120" cy="1143000"/>
          </a:xfrm>
          <a:prstGeom prst="can">
            <a:avLst/>
          </a:prstGeom>
          <a:solidFill>
            <a:srgbClr val="192C44"/>
          </a:solidFill>
          <a:ln w="19050">
            <a:solidFill>
              <a:srgbClr val="48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555480" y="2587752"/>
            <a:ext cx="1920239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48DFC0"/>
                </a:solidFill>
                <a:latin typeface="Aptos"/>
              </a:defRPr>
            </a:pPr>
            <a:r>
              <a:t>REDIS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26880" y="3611880"/>
            <a:ext cx="2377439" cy="5303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500" b="0">
                <a:solidFill>
                  <a:srgbClr val="A9BDD1"/>
                </a:solidFill>
                <a:latin typeface="Aptos"/>
              </a:defRPr>
            </a:pPr>
            <a:r>
              <a:t>Shared rate-limit buckets</a:t>
            </a:r>
          </a:p>
        </p:txBody>
      </p:sp>
      <p:sp>
        <p:nvSpPr>
          <p:cNvPr id="41" name="Can 40"/>
          <p:cNvSpPr/>
          <p:nvPr/>
        </p:nvSpPr>
        <p:spPr>
          <a:xfrm>
            <a:off x="9464040" y="4343400"/>
            <a:ext cx="2103120" cy="1143000"/>
          </a:xfrm>
          <a:prstGeom prst="can">
            <a:avLst/>
          </a:prstGeom>
          <a:solidFill>
            <a:srgbClr val="192C44"/>
          </a:solidFill>
          <a:ln w="19050">
            <a:solidFill>
              <a:srgbClr val="80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555480" y="4645152"/>
            <a:ext cx="1920239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80B8FF"/>
                </a:solidFill>
                <a:latin typeface="Aptos"/>
              </a:defRPr>
            </a:pPr>
            <a:r>
              <a:t>POSTGRESQL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26880" y="5669280"/>
            <a:ext cx="2377439" cy="5303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500" b="0">
                <a:solidFill>
                  <a:srgbClr val="A9BDD1"/>
                </a:solidFill>
                <a:latin typeface="Aptos"/>
              </a:defRPr>
            </a:pPr>
            <a:r>
              <a:t>Tariffs / identities / audit</a:t>
            </a:r>
          </a:p>
        </p:txBody>
      </p:sp>
      <p:cxnSp>
        <p:nvCxnSpPr>
          <p:cNvPr id="44" name="Connector 43"/>
          <p:cNvCxnSpPr/>
          <p:nvPr/>
        </p:nvCxnSpPr>
        <p:spPr>
          <a:xfrm flipV="1">
            <a:off x="4617720" y="2560320"/>
            <a:ext cx="0" cy="201168"/>
          </a:xfrm>
          <a:prstGeom prst="line">
            <a:avLst/>
          </a:prstGeom>
          <a:ln w="26670">
            <a:solidFill>
              <a:srgbClr val="48DFC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617720" y="2560320"/>
            <a:ext cx="4846320" cy="0"/>
          </a:xfrm>
          <a:prstGeom prst="line">
            <a:avLst/>
          </a:prstGeom>
          <a:ln w="26670">
            <a:solidFill>
              <a:srgbClr val="48DFC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211312" y="4754880"/>
            <a:ext cx="1252728" cy="0"/>
          </a:xfrm>
          <a:prstGeom prst="line">
            <a:avLst/>
          </a:prstGeom>
          <a:ln w="26670">
            <a:solidFill>
              <a:srgbClr val="80B8FF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94360" y="5852160"/>
            <a:ext cx="1101852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900" b="1">
                <a:solidFill>
                  <a:srgbClr val="48DFC0"/>
                </a:solidFill>
                <a:latin typeface="Aptos"/>
              </a:defRPr>
            </a:pPr>
            <a:r>
              <a:t>Fast local pricing. Shared identity data. Distributed request limits.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8D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98480" y="146304"/>
            <a:ext cx="1097280" cy="1097280"/>
          </a:xfrm>
          <a:prstGeom prst="ellipse">
            <a:avLst/>
          </a:prstGeom>
          <a:solidFill>
            <a:srgbClr val="11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96012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48DFC0"/>
                </a:solidFill>
                <a:latin typeface="Aptos"/>
              </a:defRPr>
            </a:pPr>
            <a:r>
              <a:t>MOONPARK  /  EXTENSIBILITY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155680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F2F7FC"/>
                </a:solidFill>
                <a:latin typeface="Aptos"/>
              </a:defRPr>
            </a:pPr>
            <a:r>
              <a:t>Add zones without rewriting the engine.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463040"/>
            <a:ext cx="10972800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A9BDD1"/>
                </a:solidFill>
                <a:latin typeface="Aptos"/>
              </a:defRPr>
            </a:pPr>
            <a:r>
              <a:t>Pricing behavior is isolated behind the Tariff interface.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55664"/>
            <a:ext cx="11064240" cy="13716"/>
          </a:xfrm>
          <a:prstGeom prst="rect">
            <a:avLst/>
          </a:prstGeom>
          <a:solidFill>
            <a:srgbClr val="29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6455664"/>
            <a:ext cx="2766060" cy="22860"/>
          </a:xfrm>
          <a:prstGeom prst="rect">
            <a:avLst/>
          </a:prstGeom>
          <a:solidFill>
            <a:srgbClr val="48D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9966960" cy="1828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A9BDD1"/>
                </a:solidFill>
                <a:latin typeface="Aptos"/>
              </a:defRPr>
            </a:pPr>
            <a:r>
              <a:t>Sources: CalculateFeeUseCase; FeeCalculationService; TariffFactory; Tariff implementations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547104"/>
            <a:ext cx="685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A9BDD1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94560"/>
            <a:ext cx="2743200" cy="1170432"/>
          </a:xfrm>
          <a:prstGeom prst="roundRect">
            <a:avLst>
              <a:gd name="adj" fmla="val 13000"/>
            </a:avLst>
          </a:prstGeom>
          <a:solidFill>
            <a:srgbClr val="192C44"/>
          </a:solidFill>
          <a:ln w="19050">
            <a:solidFill>
              <a:srgbClr val="48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2359152"/>
            <a:ext cx="2450592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48DFC0"/>
                </a:solidFill>
                <a:latin typeface="Aptos"/>
              </a:defRPr>
            </a:pPr>
            <a:r>
              <a:t>REST CONTROLLER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2825496"/>
            <a:ext cx="2450592" cy="5029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700" b="0">
                <a:solidFill>
                  <a:srgbClr val="F2F7FC"/>
                </a:solidFill>
                <a:latin typeface="Aptos"/>
              </a:defRPr>
            </a:pPr>
            <a:r>
              <a:t>HTTP + DTO validation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87952" y="2194560"/>
            <a:ext cx="2743200" cy="1170432"/>
          </a:xfrm>
          <a:prstGeom prst="roundRect">
            <a:avLst>
              <a:gd name="adj" fmla="val 13000"/>
            </a:avLst>
          </a:prstGeom>
          <a:solidFill>
            <a:srgbClr val="192C44"/>
          </a:solidFill>
          <a:ln w="19050">
            <a:solidFill>
              <a:srgbClr val="48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34256" y="2359152"/>
            <a:ext cx="2450592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48DFC0"/>
                </a:solidFill>
                <a:latin typeface="Aptos"/>
              </a:defRPr>
            </a:pPr>
            <a:r>
              <a:t>FEE SERVICE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4256" y="2825496"/>
            <a:ext cx="2450592" cy="5029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700" b="0">
                <a:solidFill>
                  <a:srgbClr val="F2F7FC"/>
                </a:solidFill>
                <a:latin typeface="Aptos"/>
              </a:defRPr>
            </a:pPr>
            <a:r>
              <a:t>Orchestrates the use case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39327" y="2194560"/>
            <a:ext cx="2743200" cy="1170432"/>
          </a:xfrm>
          <a:prstGeom prst="roundRect">
            <a:avLst>
              <a:gd name="adj" fmla="val 13000"/>
            </a:avLst>
          </a:prstGeom>
          <a:solidFill>
            <a:srgbClr val="192C44"/>
          </a:solidFill>
          <a:ln w="19050">
            <a:solidFill>
              <a:srgbClr val="80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85632" y="2359152"/>
            <a:ext cx="2450592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80B8FF"/>
                </a:solidFill>
                <a:latin typeface="Aptos"/>
              </a:defRPr>
            </a:pPr>
            <a:r>
              <a:t>TARIFF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85632" y="2825496"/>
            <a:ext cx="2450592" cy="5029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700" b="0">
                <a:solidFill>
                  <a:srgbClr val="F2F7FC"/>
                </a:solidFill>
                <a:latin typeface="Aptos"/>
              </a:defRPr>
            </a:pPr>
            <a:r>
              <a:t>Domain interface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291840" y="2779776"/>
            <a:ext cx="896112" cy="0"/>
          </a:xfrm>
          <a:prstGeom prst="line">
            <a:avLst/>
          </a:prstGeom>
          <a:ln w="26670">
            <a:solidFill>
              <a:srgbClr val="48DF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931152" y="2779776"/>
            <a:ext cx="1408175" cy="0"/>
          </a:xfrm>
          <a:prstGeom prst="line">
            <a:avLst/>
          </a:prstGeom>
          <a:ln w="26670">
            <a:solidFill>
              <a:srgbClr val="48DF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22960" y="4297680"/>
            <a:ext cx="2834640" cy="1143000"/>
          </a:xfrm>
          <a:prstGeom prst="roundRect">
            <a:avLst>
              <a:gd name="adj" fmla="val 13000"/>
            </a:avLst>
          </a:prstGeom>
          <a:solidFill>
            <a:srgbClr val="192C44"/>
          </a:solidFill>
          <a:ln w="19050">
            <a:solidFill>
              <a:srgbClr val="80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4462272"/>
            <a:ext cx="2542032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2000" b="1">
                <a:solidFill>
                  <a:srgbClr val="80B8FF"/>
                </a:solidFill>
                <a:latin typeface="Aptos"/>
              </a:defRPr>
            </a:pPr>
            <a:r>
              <a:t>MINUTE RULE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" y="4928616"/>
            <a:ext cx="2542032" cy="4754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700" b="0">
                <a:solidFill>
                  <a:srgbClr val="F2F7FC"/>
                </a:solidFill>
                <a:latin typeface="Aptos"/>
              </a:defRPr>
            </a:pPr>
            <a:r>
              <a:t>M1 + reusable zones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2240280" y="3364992"/>
            <a:ext cx="7470648" cy="932688"/>
          </a:xfrm>
          <a:prstGeom prst="line">
            <a:avLst/>
          </a:prstGeom>
          <a:ln w="26670">
            <a:solidFill>
              <a:srgbClr val="80B8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572000" y="4297680"/>
            <a:ext cx="2834640" cy="1143000"/>
          </a:xfrm>
          <a:prstGeom prst="roundRect">
            <a:avLst>
              <a:gd name="adj" fmla="val 13000"/>
            </a:avLst>
          </a:prstGeom>
          <a:solidFill>
            <a:srgbClr val="192C44"/>
          </a:solidFill>
          <a:ln w="19050">
            <a:solidFill>
              <a:srgbClr val="80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18304" y="4462272"/>
            <a:ext cx="2542032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2000" b="1">
                <a:solidFill>
                  <a:srgbClr val="80B8FF"/>
                </a:solidFill>
                <a:latin typeface="Aptos"/>
              </a:defRPr>
            </a:pPr>
            <a:r>
              <a:t>HOUR RULE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18304" y="4928616"/>
            <a:ext cx="2542032" cy="4754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700" b="0">
                <a:solidFill>
                  <a:srgbClr val="F2F7FC"/>
                </a:solidFill>
                <a:latin typeface="Aptos"/>
              </a:defRPr>
            </a:pPr>
            <a:r>
              <a:t>M2 + reusable zones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5989320" y="3364992"/>
            <a:ext cx="3721608" cy="932688"/>
          </a:xfrm>
          <a:prstGeom prst="line">
            <a:avLst/>
          </a:prstGeom>
          <a:ln w="26670">
            <a:solidFill>
              <a:srgbClr val="80B8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321040" y="4297680"/>
            <a:ext cx="2834640" cy="1143000"/>
          </a:xfrm>
          <a:prstGeom prst="roundRect">
            <a:avLst>
              <a:gd name="adj" fmla="val 13000"/>
            </a:avLst>
          </a:prstGeom>
          <a:solidFill>
            <a:srgbClr val="192C44"/>
          </a:solidFill>
          <a:ln w="19050">
            <a:solidFill>
              <a:srgbClr val="80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67344" y="4462272"/>
            <a:ext cx="2542032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2000" b="1">
                <a:solidFill>
                  <a:srgbClr val="80B8FF"/>
                </a:solidFill>
                <a:latin typeface="Aptos"/>
              </a:defRPr>
            </a:pPr>
            <a:r>
              <a:t>WINDOW RULE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67344" y="4928616"/>
            <a:ext cx="2542032" cy="4754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700" b="0">
                <a:solidFill>
                  <a:srgbClr val="F2F7FC"/>
                </a:solidFill>
                <a:latin typeface="Aptos"/>
              </a:defRPr>
            </a:pPr>
            <a:r>
              <a:t>M3 + reusable zones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710928" y="3364992"/>
            <a:ext cx="27432" cy="932688"/>
          </a:xfrm>
          <a:prstGeom prst="line">
            <a:avLst/>
          </a:prstGeom>
          <a:ln w="26670">
            <a:solidFill>
              <a:srgbClr val="80B8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94360" y="5852160"/>
            <a:ext cx="1101852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900" b="1">
                <a:solidFill>
                  <a:srgbClr val="48DFC0"/>
                </a:solidFill>
                <a:latin typeface="Aptos"/>
              </a:defRPr>
            </a:pPr>
            <a:r>
              <a:t>New zone: configure a rule. New algorithm: add a strategy.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8D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98480" y="146304"/>
            <a:ext cx="1097280" cy="1097280"/>
          </a:xfrm>
          <a:prstGeom prst="ellipse">
            <a:avLst/>
          </a:prstGeom>
          <a:solidFill>
            <a:srgbClr val="11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96012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48DFC0"/>
                </a:solidFill>
                <a:latin typeface="Aptos"/>
              </a:defRPr>
            </a:pPr>
            <a:r>
              <a:t>MOONPARK  / 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155680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F2F7FC"/>
                </a:solidFill>
                <a:latin typeface="Aptos"/>
              </a:defRPr>
            </a:pPr>
            <a:r>
              <a:t>The fastest database call is the one you avoid.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463040"/>
            <a:ext cx="10972800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A9BDD1"/>
                </a:solidFill>
                <a:latin typeface="Aptos"/>
              </a:defRPr>
            </a:pPr>
            <a:r>
              <a:t>GET /api/v1/takst  |  zone + start + 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55664"/>
            <a:ext cx="11064240" cy="13716"/>
          </a:xfrm>
          <a:prstGeom prst="rect">
            <a:avLst/>
          </a:prstGeom>
          <a:solidFill>
            <a:srgbClr val="29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6455664"/>
            <a:ext cx="3457575" cy="22860"/>
          </a:xfrm>
          <a:prstGeom prst="rect">
            <a:avLst/>
          </a:prstGeom>
          <a:solidFill>
            <a:srgbClr val="48D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9966960" cy="1828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A9BDD1"/>
                </a:solidFill>
                <a:latin typeface="Aptos"/>
              </a:defRPr>
            </a:pPr>
            <a:r>
              <a:t>Sources: TariffController; FeeCalculationService; CachedTariffRegistry; application.yml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547104"/>
            <a:ext cx="685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A9BDD1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377440"/>
            <a:ext cx="2240280" cy="1143000"/>
          </a:xfrm>
          <a:prstGeom prst="roundRect">
            <a:avLst>
              <a:gd name="adj" fmla="val 13000"/>
            </a:avLst>
          </a:prstGeom>
          <a:solidFill>
            <a:srgbClr val="192C44"/>
          </a:solidFill>
          <a:ln w="19050">
            <a:solidFill>
              <a:srgbClr val="48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2542032"/>
            <a:ext cx="1947672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48DFC0"/>
                </a:solidFill>
                <a:latin typeface="Aptos"/>
              </a:defRPr>
            </a:pPr>
            <a:r>
              <a:t>REQUEST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3008376"/>
            <a:ext cx="1947672" cy="4754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700" b="0">
                <a:solidFill>
                  <a:srgbClr val="F2F7FC"/>
                </a:solidFill>
                <a:latin typeface="Aptos"/>
              </a:defRPr>
            </a:pPr>
            <a:r>
              <a:t>Parse time + zone</a:t>
            </a:r>
          </a:p>
        </p:txBody>
      </p:sp>
      <p:sp>
        <p:nvSpPr>
          <p:cNvPr id="14" name="Diamond 13"/>
          <p:cNvSpPr/>
          <p:nvPr/>
        </p:nvSpPr>
        <p:spPr>
          <a:xfrm>
            <a:off x="3474720" y="2057400"/>
            <a:ext cx="1828800" cy="1828800"/>
          </a:xfrm>
          <a:prstGeom prst="diamond">
            <a:avLst/>
          </a:prstGeom>
          <a:solidFill>
            <a:srgbClr val="192C44"/>
          </a:solidFill>
          <a:ln w="19050">
            <a:solidFill>
              <a:srgbClr val="FFC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75887" y="2697480"/>
            <a:ext cx="1426464" cy="6858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2000" b="1">
                <a:solidFill>
                  <a:srgbClr val="FFCB77"/>
                </a:solidFill>
                <a:latin typeface="Aptos"/>
              </a:defRPr>
            </a:pPr>
            <a:r>
              <a:t>Cache</a:t>
            </a:r>
          </a:p>
          <a:p>
            <a:pPr algn="ctr">
              <a:spcAft>
                <a:spcPts val="500"/>
              </a:spcAft>
              <a:defRPr sz="2000" b="1">
                <a:solidFill>
                  <a:srgbClr val="FFCB77"/>
                </a:solidFill>
                <a:latin typeface="Aptos"/>
              </a:defRPr>
            </a:pPr>
            <a:r>
              <a:t>hit?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2377440"/>
            <a:ext cx="2331720" cy="1143000"/>
          </a:xfrm>
          <a:prstGeom prst="roundRect">
            <a:avLst>
              <a:gd name="adj" fmla="val 13000"/>
            </a:avLst>
          </a:prstGeom>
          <a:solidFill>
            <a:srgbClr val="192C44"/>
          </a:solidFill>
          <a:ln w="19050">
            <a:solidFill>
              <a:srgbClr val="48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72784" y="2542032"/>
            <a:ext cx="2039112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48DFC0"/>
                </a:solidFill>
                <a:latin typeface="Aptos"/>
              </a:defRPr>
            </a:pPr>
            <a:r>
              <a:t>QUOTE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2784" y="3008376"/>
            <a:ext cx="2039112" cy="4754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700" b="0">
                <a:solidFill>
                  <a:srgbClr val="F2F7FC"/>
                </a:solidFill>
                <a:latin typeface="Aptos"/>
              </a:defRPr>
            </a:pPr>
            <a:r>
              <a:t>Fee + tariff version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2377440"/>
            <a:ext cx="2423160" cy="1143000"/>
          </a:xfrm>
          <a:prstGeom prst="roundRect">
            <a:avLst>
              <a:gd name="adj" fmla="val 13000"/>
            </a:avLst>
          </a:prstGeom>
          <a:solidFill>
            <a:srgbClr val="192C44"/>
          </a:solidFill>
          <a:ln w="19050">
            <a:solidFill>
              <a:srgbClr val="48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90304" y="2542032"/>
            <a:ext cx="2130552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48DFC0"/>
                </a:solidFill>
                <a:latin typeface="Aptos"/>
              </a:defRPr>
            </a:pPr>
            <a:r>
              <a:t>RESPONSE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0304" y="3008376"/>
            <a:ext cx="2130552" cy="4754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700" b="0">
                <a:solidFill>
                  <a:srgbClr val="F2F7FC"/>
                </a:solidFill>
                <a:latin typeface="Aptos"/>
              </a:defRPr>
            </a:pPr>
            <a:r>
              <a:t>M1: 61 NOK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788920" y="2953512"/>
            <a:ext cx="685800" cy="0"/>
          </a:xfrm>
          <a:prstGeom prst="line">
            <a:avLst/>
          </a:prstGeom>
          <a:ln w="26670">
            <a:solidFill>
              <a:srgbClr val="48DF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303520" y="2953512"/>
            <a:ext cx="822960" cy="0"/>
          </a:xfrm>
          <a:prstGeom prst="line">
            <a:avLst/>
          </a:prstGeom>
          <a:ln w="26670">
            <a:solidFill>
              <a:srgbClr val="48DF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404104" y="2532888"/>
            <a:ext cx="59436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48DFC0"/>
                </a:solidFill>
                <a:latin typeface="Aptos"/>
              </a:defRPr>
            </a:pPr>
            <a:r>
              <a:t>YES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458200" y="2953512"/>
            <a:ext cx="685800" cy="0"/>
          </a:xfrm>
          <a:prstGeom prst="line">
            <a:avLst/>
          </a:prstGeom>
          <a:ln w="26670">
            <a:solidFill>
              <a:srgbClr val="48DF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3474720" y="4370832"/>
            <a:ext cx="4983480" cy="1005840"/>
          </a:xfrm>
          <a:prstGeom prst="roundRect">
            <a:avLst>
              <a:gd name="adj" fmla="val 13000"/>
            </a:avLst>
          </a:prstGeom>
          <a:solidFill>
            <a:srgbClr val="192C44"/>
          </a:solidFill>
          <a:ln w="19050">
            <a:solidFill>
              <a:srgbClr val="80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21024" y="4535424"/>
            <a:ext cx="4690872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80B8FF"/>
                </a:solidFill>
                <a:latin typeface="Aptos"/>
              </a:defRPr>
            </a:pPr>
            <a:r>
              <a:t>VALIDATE &gt; SELECT TARIFF &gt; CALCULATE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21024" y="5001768"/>
            <a:ext cx="4690872" cy="3383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700" b="0">
                <a:solidFill>
                  <a:srgbClr val="F2F7FC"/>
                </a:solidFill>
                <a:latin typeface="Aptos"/>
              </a:defRPr>
            </a:pPr>
            <a:r>
              <a:t>In-memory tariff registry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389120" y="3886200"/>
            <a:ext cx="0" cy="484632"/>
          </a:xfrm>
          <a:prstGeom prst="line">
            <a:avLst/>
          </a:prstGeom>
          <a:ln w="26670">
            <a:solidFill>
              <a:srgbClr val="FFCB7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599432" y="3977639"/>
            <a:ext cx="73152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FFCB77"/>
                </a:solidFill>
                <a:latin typeface="Aptos"/>
              </a:defRPr>
            </a:pPr>
            <a:r>
              <a:t>MISS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7315200" y="3520440"/>
            <a:ext cx="0" cy="850392"/>
          </a:xfrm>
          <a:prstGeom prst="line">
            <a:avLst/>
          </a:prstGeom>
          <a:ln w="26670">
            <a:solidFill>
              <a:srgbClr val="80B8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548640" y="4572000"/>
            <a:ext cx="2240280" cy="411480"/>
          </a:xfrm>
          <a:prstGeom prst="roundRect">
            <a:avLst>
              <a:gd name="adj" fmla="val 13000"/>
            </a:avLst>
          </a:prstGeom>
          <a:solidFill>
            <a:srgbClr val="22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4654296"/>
            <a:ext cx="214884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48DFC0"/>
                </a:solidFill>
                <a:latin typeface="Aptos"/>
              </a:defRPr>
            </a:pPr>
            <a:r>
              <a:t>Europe/Oslo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074920"/>
            <a:ext cx="2240280" cy="411480"/>
          </a:xfrm>
          <a:prstGeom prst="roundRect">
            <a:avLst>
              <a:gd name="adj" fmla="val 13000"/>
            </a:avLst>
          </a:prstGeom>
          <a:solidFill>
            <a:srgbClr val="22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5157216"/>
            <a:ext cx="214884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48DFC0"/>
                </a:solidFill>
                <a:latin typeface="Aptos"/>
              </a:defRPr>
            </a:pPr>
            <a:r>
              <a:t>Max period: 31 days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5852160"/>
            <a:ext cx="1101852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900" b="1">
                <a:solidFill>
                  <a:srgbClr val="48DFC0"/>
                </a:solidFill>
                <a:latin typeface="Aptos"/>
              </a:defRPr>
            </a:pPr>
            <a:r>
              <a:t>The session START selects the tariff version.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8D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98480" y="146304"/>
            <a:ext cx="1097280" cy="1097280"/>
          </a:xfrm>
          <a:prstGeom prst="ellipse">
            <a:avLst/>
          </a:prstGeom>
          <a:solidFill>
            <a:srgbClr val="11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96012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48DFC0"/>
                </a:solidFill>
                <a:latin typeface="Aptos"/>
              </a:defRPr>
            </a:pPr>
            <a:r>
              <a:t>MOONPARK  /  LOGIN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155680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F2F7FC"/>
                </a:solidFill>
                <a:latin typeface="Aptos"/>
              </a:defRPr>
            </a:pPr>
            <a:r>
              <a:t>Authenticate once. Carry identity in a token.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463040"/>
            <a:ext cx="10972800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A9BDD1"/>
                </a:solidFill>
                <a:latin typeface="Aptos"/>
              </a:defRPr>
            </a:pPr>
            <a:r>
              <a:t>POST /api/v1/auth/login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55664"/>
            <a:ext cx="11064240" cy="13716"/>
          </a:xfrm>
          <a:prstGeom prst="rect">
            <a:avLst/>
          </a:prstGeom>
          <a:solidFill>
            <a:srgbClr val="29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6455664"/>
            <a:ext cx="4149089" cy="22860"/>
          </a:xfrm>
          <a:prstGeom prst="rect">
            <a:avLst/>
          </a:prstGeom>
          <a:solidFill>
            <a:srgbClr val="48D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9966960" cy="1828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A9BDD1"/>
                </a:solidFill>
                <a:latin typeface="Aptos"/>
              </a:defRPr>
            </a:pPr>
            <a:r>
              <a:t>Sources: AuthService; TokenService; JwtConfig; RateLimitFilter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547104"/>
            <a:ext cx="685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A9BDD1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267712"/>
            <a:ext cx="2331720" cy="1188720"/>
          </a:xfrm>
          <a:prstGeom prst="roundRect">
            <a:avLst>
              <a:gd name="adj" fmla="val 13000"/>
            </a:avLst>
          </a:prstGeom>
          <a:solidFill>
            <a:srgbClr val="192C44"/>
          </a:solidFill>
          <a:ln w="19050">
            <a:solidFill>
              <a:srgbClr val="48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2432304"/>
            <a:ext cx="2039112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48DFC0"/>
                </a:solidFill>
                <a:latin typeface="Aptos"/>
              </a:defRPr>
            </a:pPr>
            <a:r>
              <a:t>CREDENTIALS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2898648"/>
            <a:ext cx="2039112" cy="5212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700" b="0">
                <a:solidFill>
                  <a:srgbClr val="F2F7FC"/>
                </a:solidFill>
                <a:latin typeface="Aptos"/>
              </a:defRPr>
            </a:pPr>
            <a:r>
              <a:t>Username + password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2267712"/>
            <a:ext cx="2331720" cy="1188720"/>
          </a:xfrm>
          <a:prstGeom prst="roundRect">
            <a:avLst>
              <a:gd name="adj" fmla="val 13000"/>
            </a:avLst>
          </a:prstGeom>
          <a:solidFill>
            <a:srgbClr val="192C44"/>
          </a:solidFill>
          <a:ln w="19050">
            <a:solidFill>
              <a:srgbClr val="48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2736" y="2432304"/>
            <a:ext cx="2039112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48DFC0"/>
                </a:solidFill>
                <a:latin typeface="Aptos"/>
              </a:defRPr>
            </a:pPr>
            <a:r>
              <a:t>IP QUOTA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2736" y="2898648"/>
            <a:ext cx="2039112" cy="5212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700" b="0">
                <a:solidFill>
                  <a:srgbClr val="F2F7FC"/>
                </a:solidFill>
                <a:latin typeface="Aptos"/>
              </a:defRPr>
            </a:pPr>
            <a:r>
              <a:t>Anonymous bucket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73368" y="2267712"/>
            <a:ext cx="2331720" cy="1188720"/>
          </a:xfrm>
          <a:prstGeom prst="roundRect">
            <a:avLst>
              <a:gd name="adj" fmla="val 13000"/>
            </a:avLst>
          </a:prstGeom>
          <a:solidFill>
            <a:srgbClr val="192C44"/>
          </a:solidFill>
          <a:ln w="19050">
            <a:solidFill>
              <a:srgbClr val="48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2" y="2432304"/>
            <a:ext cx="2039112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48DFC0"/>
                </a:solidFill>
                <a:latin typeface="Aptos"/>
              </a:defRPr>
            </a:pPr>
            <a:r>
              <a:t>VERIFY USER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2898648"/>
            <a:ext cx="2039112" cy="5212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700" b="0">
                <a:solidFill>
                  <a:srgbClr val="F2F7FC"/>
                </a:solidFill>
                <a:latin typeface="Aptos"/>
              </a:defRPr>
            </a:pPr>
            <a:r>
              <a:t>DB + bcrypt hash</a:t>
            </a:r>
          </a:p>
        </p:txBody>
      </p:sp>
      <p:sp>
        <p:nvSpPr>
          <p:cNvPr id="20" name="Diamond 19"/>
          <p:cNvSpPr/>
          <p:nvPr/>
        </p:nvSpPr>
        <p:spPr>
          <a:xfrm>
            <a:off x="9372600" y="1965960"/>
            <a:ext cx="1965960" cy="1965960"/>
          </a:xfrm>
          <a:prstGeom prst="diamond">
            <a:avLst/>
          </a:prstGeom>
          <a:solidFill>
            <a:srgbClr val="192C44"/>
          </a:solidFill>
          <a:ln w="19050">
            <a:solidFill>
              <a:srgbClr val="FFC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73768" y="2654046"/>
            <a:ext cx="1563624" cy="6858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2000" b="1">
                <a:solidFill>
                  <a:srgbClr val="FFCB77"/>
                </a:solidFill>
                <a:latin typeface="Aptos"/>
              </a:defRPr>
            </a:pPr>
            <a:r>
              <a:t>Valid?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880360" y="2871216"/>
            <a:ext cx="576072" cy="0"/>
          </a:xfrm>
          <a:prstGeom prst="line">
            <a:avLst/>
          </a:prstGeom>
          <a:ln w="26670">
            <a:solidFill>
              <a:srgbClr val="48DF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788152" y="2871216"/>
            <a:ext cx="585216" cy="0"/>
          </a:xfrm>
          <a:prstGeom prst="line">
            <a:avLst/>
          </a:prstGeom>
          <a:ln w="26670">
            <a:solidFill>
              <a:srgbClr val="48DF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705088" y="2871216"/>
            <a:ext cx="667512" cy="0"/>
          </a:xfrm>
          <a:prstGeom prst="line">
            <a:avLst/>
          </a:prstGeom>
          <a:ln w="26670">
            <a:solidFill>
              <a:srgbClr val="48DF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537960" y="4352544"/>
            <a:ext cx="2880360" cy="1024128"/>
          </a:xfrm>
          <a:prstGeom prst="roundRect">
            <a:avLst>
              <a:gd name="adj" fmla="val 13000"/>
            </a:avLst>
          </a:prstGeom>
          <a:solidFill>
            <a:srgbClr val="192C44"/>
          </a:solidFill>
          <a:ln w="19050">
            <a:solidFill>
              <a:srgbClr val="48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84264" y="4517136"/>
            <a:ext cx="2587752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48DFC0"/>
                </a:solidFill>
                <a:latin typeface="Aptos"/>
              </a:defRPr>
            </a:pPr>
            <a:r>
              <a:t>SIGNED JWT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84264" y="4983479"/>
            <a:ext cx="2587752" cy="35661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700" b="0">
                <a:solidFill>
                  <a:srgbClr val="F2F7FC"/>
                </a:solidFill>
                <a:latin typeface="Aptos"/>
              </a:defRPr>
            </a:pPr>
            <a:r>
              <a:t>HS256 / 30 min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57232" y="4352544"/>
            <a:ext cx="1828800" cy="1024128"/>
          </a:xfrm>
          <a:prstGeom prst="roundRect">
            <a:avLst>
              <a:gd name="adj" fmla="val 13000"/>
            </a:avLst>
          </a:prstGeom>
          <a:solidFill>
            <a:srgbClr val="192C44"/>
          </a:solidFill>
          <a:ln w="19050">
            <a:solidFill>
              <a:srgbClr val="FF91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03536" y="4517136"/>
            <a:ext cx="1536192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FF919D"/>
                </a:solidFill>
                <a:latin typeface="Aptos"/>
              </a:defRPr>
            </a:pPr>
            <a:r>
              <a:t>401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03536" y="4983479"/>
            <a:ext cx="1536192" cy="35661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700" b="0">
                <a:solidFill>
                  <a:srgbClr val="F2F7FC"/>
                </a:solidFill>
                <a:latin typeface="Aptos"/>
              </a:defRPr>
            </a:pPr>
            <a:r>
              <a:t>Generic error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7973568" y="3657600"/>
            <a:ext cx="1719072" cy="694944"/>
          </a:xfrm>
          <a:prstGeom prst="line">
            <a:avLst/>
          </a:prstGeom>
          <a:ln w="26670">
            <a:solidFill>
              <a:srgbClr val="48DF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0652760" y="3657600"/>
            <a:ext cx="118872" cy="694944"/>
          </a:xfrm>
          <a:prstGeom prst="line">
            <a:avLst/>
          </a:prstGeom>
          <a:ln w="26670">
            <a:solidFill>
              <a:srgbClr val="FF919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909560" y="3749039"/>
            <a:ext cx="137160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48DFC0"/>
                </a:solidFill>
                <a:latin typeface="Aptos"/>
              </a:defRPr>
            </a:pPr>
            <a:r>
              <a:t>YES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45368" y="3749039"/>
            <a:ext cx="54864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FF919D"/>
                </a:solidFill>
                <a:latin typeface="Aptos"/>
              </a:defRPr>
            </a:pPr>
            <a:r>
              <a:t>NO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4343400"/>
            <a:ext cx="5212080" cy="7863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A9BDD1"/>
                </a:solidFill>
                <a:latin typeface="Aptos"/>
              </a:defRPr>
            </a:pPr>
            <a:r>
              <a:t>JWT = subject + roles + permissions</a:t>
            </a:r>
          </a:p>
          <a:p>
            <a:pPr>
              <a:spcAft>
                <a:spcPts val="500"/>
              </a:spcAft>
              <a:defRPr sz="1800" b="0">
                <a:solidFill>
                  <a:srgbClr val="A9BDD1"/>
                </a:solidFill>
                <a:latin typeface="Aptos"/>
              </a:defRPr>
            </a:pPr>
            <a:r>
              <a:t>Next request: signature / issuer / expiry checks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5852160"/>
            <a:ext cx="1101852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900" b="1">
                <a:solidFill>
                  <a:srgbClr val="48DFC0"/>
                </a:solidFill>
                <a:latin typeface="Aptos"/>
              </a:defRPr>
            </a:pPr>
            <a:r>
              <a:t>Unknown user? A dummy hash check reduces enumeration signals.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8D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98480" y="146304"/>
            <a:ext cx="1097280" cy="1097280"/>
          </a:xfrm>
          <a:prstGeom prst="ellipse">
            <a:avLst/>
          </a:prstGeom>
          <a:solidFill>
            <a:srgbClr val="11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96012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48DFC0"/>
                </a:solidFill>
                <a:latin typeface="Aptos"/>
              </a:defRPr>
            </a:pPr>
            <a:r>
              <a:t>MOONPARK  /  ACCESS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155680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F2F7FC"/>
                </a:solidFill>
                <a:latin typeface="Aptos"/>
              </a:defRPr>
            </a:pPr>
            <a:r>
              <a:t>Two identities. One permission gate.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463040"/>
            <a:ext cx="10972800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A9BDD1"/>
                </a:solidFill>
                <a:latin typeface="Aptos"/>
              </a:defRPr>
            </a:pPr>
            <a:r>
              <a:t>Authentication establishes who. Authorization decides what.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55664"/>
            <a:ext cx="11064240" cy="13716"/>
          </a:xfrm>
          <a:prstGeom prst="rect">
            <a:avLst/>
          </a:prstGeom>
          <a:solidFill>
            <a:srgbClr val="29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6455664"/>
            <a:ext cx="4840605" cy="22860"/>
          </a:xfrm>
          <a:prstGeom prst="rect">
            <a:avLst/>
          </a:prstGeom>
          <a:solidFill>
            <a:srgbClr val="48D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9966960" cy="1828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A9BDD1"/>
                </a:solidFill>
                <a:latin typeface="Aptos"/>
              </a:defRPr>
            </a:pPr>
            <a:r>
              <a:t>Sources: ApiKeys; ApiClientService; SecurityConfig; controller @PreAuthorize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547104"/>
            <a:ext cx="685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A9BDD1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2240280"/>
            <a:ext cx="1051560" cy="1051560"/>
          </a:xfrm>
          <a:prstGeom prst="ellipse">
            <a:avLst/>
          </a:prstGeom>
          <a:solidFill>
            <a:srgbClr val="192C44"/>
          </a:solidFill>
          <a:ln w="19050">
            <a:solidFill>
              <a:srgbClr val="48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534716"/>
            <a:ext cx="923543" cy="599389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48DFC0"/>
                </a:solidFill>
                <a:latin typeface="Aptos"/>
              </a:defRPr>
            </a:pPr>
            <a:r>
              <a:t>USER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4206240"/>
            <a:ext cx="1051560" cy="1051560"/>
          </a:xfrm>
          <a:prstGeom prst="ellipse">
            <a:avLst/>
          </a:prstGeom>
          <a:solidFill>
            <a:srgbClr val="192C44"/>
          </a:solidFill>
          <a:ln w="19050">
            <a:solidFill>
              <a:srgbClr val="80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4500676"/>
            <a:ext cx="923543" cy="599389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80B8FF"/>
                </a:solidFill>
                <a:latin typeface="Aptos"/>
              </a:defRPr>
            </a:pPr>
            <a:r>
              <a:t>APP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14600" y="2240280"/>
            <a:ext cx="2971800" cy="1078992"/>
          </a:xfrm>
          <a:prstGeom prst="roundRect">
            <a:avLst>
              <a:gd name="adj" fmla="val 13000"/>
            </a:avLst>
          </a:prstGeom>
          <a:solidFill>
            <a:srgbClr val="192C44"/>
          </a:solidFill>
          <a:ln w="19050">
            <a:solidFill>
              <a:srgbClr val="48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60904" y="2404872"/>
            <a:ext cx="2679192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48DFC0"/>
                </a:solidFill>
                <a:latin typeface="Aptos"/>
              </a:defRPr>
            </a:pPr>
            <a:r>
              <a:t>JWT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60904" y="2871216"/>
            <a:ext cx="2679192" cy="411479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700" b="0">
                <a:solidFill>
                  <a:srgbClr val="F2F7FC"/>
                </a:solidFill>
                <a:latin typeface="Aptos"/>
              </a:defRPr>
            </a:pPr>
            <a:r>
              <a:t>Signed claims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14600" y="4206240"/>
            <a:ext cx="2971800" cy="1078992"/>
          </a:xfrm>
          <a:prstGeom prst="roundRect">
            <a:avLst>
              <a:gd name="adj" fmla="val 13000"/>
            </a:avLst>
          </a:prstGeom>
          <a:solidFill>
            <a:srgbClr val="192C44"/>
          </a:solidFill>
          <a:ln w="19050">
            <a:solidFill>
              <a:srgbClr val="80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60904" y="4370831"/>
            <a:ext cx="2679192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80B8FF"/>
                </a:solidFill>
                <a:latin typeface="Aptos"/>
              </a:defRPr>
            </a:pPr>
            <a:r>
              <a:t>API KEY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60904" y="4837175"/>
            <a:ext cx="2679192" cy="411479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700" b="0">
                <a:solidFill>
                  <a:srgbClr val="F2F7FC"/>
                </a:solidFill>
                <a:latin typeface="Aptos"/>
              </a:defRPr>
            </a:pPr>
            <a:r>
              <a:t>SHA-256 hash stored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737360" y="2761488"/>
            <a:ext cx="777240" cy="0"/>
          </a:xfrm>
          <a:prstGeom prst="line">
            <a:avLst/>
          </a:prstGeom>
          <a:ln w="26670">
            <a:solidFill>
              <a:srgbClr val="48DF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37360" y="4727448"/>
            <a:ext cx="777240" cy="0"/>
          </a:xfrm>
          <a:prstGeom prst="line">
            <a:avLst/>
          </a:prstGeom>
          <a:ln w="26670">
            <a:solidFill>
              <a:srgbClr val="80B8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629400" y="3136392"/>
            <a:ext cx="2286000" cy="1207008"/>
          </a:xfrm>
          <a:prstGeom prst="roundRect">
            <a:avLst>
              <a:gd name="adj" fmla="val 13000"/>
            </a:avLst>
          </a:prstGeom>
          <a:solidFill>
            <a:srgbClr val="192C44"/>
          </a:solidFill>
          <a:ln w="19050">
            <a:solidFill>
              <a:srgbClr val="FFC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75704" y="3300984"/>
            <a:ext cx="1993392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FFCB77"/>
                </a:solidFill>
                <a:latin typeface="Aptos"/>
              </a:defRPr>
            </a:pPr>
            <a:r>
              <a:t>PERMISSION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75704" y="3767328"/>
            <a:ext cx="1993392" cy="5394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700" b="0">
                <a:solidFill>
                  <a:srgbClr val="F2F7FC"/>
                </a:solidFill>
                <a:latin typeface="Aptos"/>
              </a:defRPr>
            </a:pPr>
            <a:r>
              <a:t>@PreAuthorize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486400" y="2761488"/>
            <a:ext cx="1143000" cy="832104"/>
          </a:xfrm>
          <a:prstGeom prst="line">
            <a:avLst/>
          </a:prstGeom>
          <a:ln w="26670">
            <a:solidFill>
              <a:srgbClr val="48DF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5486400" y="3895344"/>
            <a:ext cx="1143000" cy="832104"/>
          </a:xfrm>
          <a:prstGeom prst="line">
            <a:avLst/>
          </a:prstGeom>
          <a:ln w="26670">
            <a:solidFill>
              <a:srgbClr val="80B8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601200" y="3136392"/>
            <a:ext cx="1965960" cy="1207008"/>
          </a:xfrm>
          <a:prstGeom prst="roundRect">
            <a:avLst>
              <a:gd name="adj" fmla="val 13000"/>
            </a:avLst>
          </a:prstGeom>
          <a:solidFill>
            <a:srgbClr val="192C44"/>
          </a:solidFill>
          <a:ln w="19050">
            <a:solidFill>
              <a:srgbClr val="48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47504" y="3300984"/>
            <a:ext cx="1673351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48DFC0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47504" y="3767328"/>
            <a:ext cx="1673351" cy="5394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700" b="0">
                <a:solidFill>
                  <a:srgbClr val="F2F7FC"/>
                </a:solidFill>
                <a:latin typeface="Aptos"/>
              </a:defRPr>
            </a:pPr>
            <a:r>
              <a:t>Allow / 403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915400" y="3739896"/>
            <a:ext cx="685800" cy="0"/>
          </a:xfrm>
          <a:prstGeom prst="line">
            <a:avLst/>
          </a:prstGeom>
          <a:ln w="26670">
            <a:solidFill>
              <a:srgbClr val="48DF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2514600" y="3511296"/>
            <a:ext cx="2971800" cy="411480"/>
          </a:xfrm>
          <a:prstGeom prst="roundRect">
            <a:avLst>
              <a:gd name="adj" fmla="val 13000"/>
            </a:avLst>
          </a:prstGeom>
          <a:solidFill>
            <a:srgbClr val="22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60320" y="3593591"/>
            <a:ext cx="288036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48DFC0"/>
                </a:solidFill>
                <a:latin typeface="Aptos"/>
              </a:defRPr>
            </a:pPr>
            <a:r>
              <a:t>Claims valid until token expiry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514600" y="5468112"/>
            <a:ext cx="2971800" cy="411480"/>
          </a:xfrm>
          <a:prstGeom prst="roundRect">
            <a:avLst>
              <a:gd name="adj" fmla="val 13000"/>
            </a:avLst>
          </a:prstGeom>
          <a:solidFill>
            <a:srgbClr val="22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560320" y="5550408"/>
            <a:ext cx="288036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48DFC0"/>
                </a:solidFill>
                <a:latin typeface="Aptos"/>
              </a:defRPr>
            </a:pPr>
            <a:r>
              <a:t>Key cache: up to 60s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5852160"/>
            <a:ext cx="1101852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900" b="1">
                <a:solidFill>
                  <a:srgbClr val="48DFC0"/>
                </a:solidFill>
                <a:latin typeface="Aptos"/>
              </a:defRPr>
            </a:pPr>
            <a:r>
              <a:t>Choose JWT OR API key. Never both.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8D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98480" y="146304"/>
            <a:ext cx="1097280" cy="1097280"/>
          </a:xfrm>
          <a:prstGeom prst="ellipse">
            <a:avLst/>
          </a:prstGeom>
          <a:solidFill>
            <a:srgbClr val="11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96012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48DFC0"/>
                </a:solidFill>
                <a:latin typeface="Aptos"/>
              </a:defRPr>
            </a:pPr>
            <a:r>
              <a:t>MOONPARK  /  RATE LIMITING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155680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F2F7FC"/>
                </a:solidFill>
                <a:latin typeface="Aptos"/>
              </a:defRPr>
            </a:pPr>
            <a:r>
              <a:t>Every caller has a budget.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463040"/>
            <a:ext cx="10972800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A9BDD1"/>
                </a:solidFill>
                <a:latin typeface="Aptos"/>
              </a:defRPr>
            </a:pPr>
            <a:r>
              <a:t>Authentication &gt; identify caller &gt; consume tokens &gt; authorize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55664"/>
            <a:ext cx="11064240" cy="13716"/>
          </a:xfrm>
          <a:prstGeom prst="rect">
            <a:avLst/>
          </a:prstGeom>
          <a:solidFill>
            <a:srgbClr val="29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6455664"/>
            <a:ext cx="5532120" cy="22860"/>
          </a:xfrm>
          <a:prstGeom prst="rect">
            <a:avLst/>
          </a:prstGeom>
          <a:solidFill>
            <a:srgbClr val="48D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9966960" cy="1828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A9BDD1"/>
                </a:solidFill>
                <a:latin typeface="Aptos"/>
              </a:defRPr>
            </a:pPr>
            <a:r>
              <a:t>Sources: RateLimitFilter; RateLimitPlan; RedisRateLimitStore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547104"/>
            <a:ext cx="685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A9BDD1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057400"/>
            <a:ext cx="3108960" cy="1078992"/>
          </a:xfrm>
          <a:prstGeom prst="roundRect">
            <a:avLst>
              <a:gd name="adj" fmla="val 13000"/>
            </a:avLst>
          </a:prstGeom>
          <a:solidFill>
            <a:srgbClr val="192C44"/>
          </a:solidFill>
          <a:ln w="19050">
            <a:solidFill>
              <a:srgbClr val="FFC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2221992"/>
            <a:ext cx="2816352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FFCB77"/>
                </a:solidFill>
                <a:latin typeface="Aptos"/>
              </a:defRPr>
            </a:pPr>
            <a:r>
              <a:t>ANONYMOUS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2688336"/>
            <a:ext cx="2816352" cy="411479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700" b="0">
                <a:solidFill>
                  <a:srgbClr val="F2F7FC"/>
                </a:solidFill>
                <a:latin typeface="Aptos"/>
              </a:defRPr>
            </a:pPr>
            <a:r>
              <a:t>IP address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103120" y="3136392"/>
            <a:ext cx="3968496" cy="548640"/>
          </a:xfrm>
          <a:prstGeom prst="line">
            <a:avLst/>
          </a:prstGeom>
          <a:ln w="26670">
            <a:solidFill>
              <a:srgbClr val="FFCB7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434840" y="2057400"/>
            <a:ext cx="3108960" cy="1078992"/>
          </a:xfrm>
          <a:prstGeom prst="roundRect">
            <a:avLst>
              <a:gd name="adj" fmla="val 13000"/>
            </a:avLst>
          </a:prstGeom>
          <a:solidFill>
            <a:srgbClr val="192C44"/>
          </a:solidFill>
          <a:ln w="19050">
            <a:solidFill>
              <a:srgbClr val="48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221992"/>
            <a:ext cx="2816352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48DFC0"/>
                </a:solidFill>
                <a:latin typeface="Aptos"/>
              </a:defRPr>
            </a:pPr>
            <a:r>
              <a:t>JWT USER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88336"/>
            <a:ext cx="2816352" cy="411479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700" b="0">
                <a:solidFill>
                  <a:srgbClr val="F2F7FC"/>
                </a:solidFill>
                <a:latin typeface="Aptos"/>
              </a:defRPr>
            </a:pPr>
            <a:r>
              <a:t>Username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89320" y="3136392"/>
            <a:ext cx="82296" cy="548640"/>
          </a:xfrm>
          <a:prstGeom prst="line">
            <a:avLst/>
          </a:prstGeom>
          <a:ln w="26670">
            <a:solidFill>
              <a:srgbClr val="48DF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321040" y="2057400"/>
            <a:ext cx="3108960" cy="1078992"/>
          </a:xfrm>
          <a:prstGeom prst="roundRect">
            <a:avLst>
              <a:gd name="adj" fmla="val 13000"/>
            </a:avLst>
          </a:prstGeom>
          <a:solidFill>
            <a:srgbClr val="192C44"/>
          </a:solidFill>
          <a:ln w="19050">
            <a:solidFill>
              <a:srgbClr val="80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67344" y="2221992"/>
            <a:ext cx="2816352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80B8FF"/>
                </a:solidFill>
                <a:latin typeface="Aptos"/>
              </a:defRPr>
            </a:pPr>
            <a:r>
              <a:t>API CLIENT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67344" y="2688336"/>
            <a:ext cx="2816352" cy="411479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700" b="0">
                <a:solidFill>
                  <a:srgbClr val="F2F7FC"/>
                </a:solidFill>
                <a:latin typeface="Aptos"/>
              </a:defRPr>
            </a:pPr>
            <a:r>
              <a:t>Client ID + plan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6071616" y="3136392"/>
            <a:ext cx="3803903" cy="548640"/>
          </a:xfrm>
          <a:prstGeom prst="line">
            <a:avLst/>
          </a:prstGeom>
          <a:ln w="26670">
            <a:solidFill>
              <a:srgbClr val="80B8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425696" y="3685032"/>
            <a:ext cx="3291840" cy="1097280"/>
          </a:xfrm>
          <a:prstGeom prst="roundRect">
            <a:avLst>
              <a:gd name="adj" fmla="val 13000"/>
            </a:avLst>
          </a:prstGeom>
          <a:solidFill>
            <a:srgbClr val="192C44"/>
          </a:solidFill>
          <a:ln w="19050">
            <a:solidFill>
              <a:srgbClr val="48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3849624"/>
            <a:ext cx="2999232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48DFC0"/>
                </a:solidFill>
                <a:latin typeface="Aptos"/>
              </a:defRPr>
            </a:pPr>
            <a:r>
              <a:t>BUCKET4J + REDIS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315968"/>
            <a:ext cx="2999232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700" b="0">
                <a:solidFill>
                  <a:srgbClr val="F2F7FC"/>
                </a:solidFill>
                <a:latin typeface="Aptos"/>
              </a:defRPr>
            </a:pPr>
            <a:r>
              <a:t>Single: 1  /  Batch: 10 tokens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078224"/>
            <a:ext cx="2606040" cy="1042415"/>
          </a:xfrm>
          <a:prstGeom prst="roundRect">
            <a:avLst>
              <a:gd name="adj" fmla="val 13000"/>
            </a:avLst>
          </a:prstGeom>
          <a:solidFill>
            <a:srgbClr val="192C44"/>
          </a:solidFill>
          <a:ln w="19050">
            <a:solidFill>
              <a:srgbClr val="48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4242816"/>
            <a:ext cx="2313432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48DFC0"/>
                </a:solidFill>
                <a:latin typeface="Aptos"/>
              </a:defRPr>
            </a:pPr>
            <a:r>
              <a:t>CONTINUE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" y="4709160"/>
            <a:ext cx="2313432" cy="37490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700" b="0">
                <a:solidFill>
                  <a:srgbClr val="F2F7FC"/>
                </a:solidFill>
                <a:latin typeface="Aptos"/>
              </a:defRPr>
            </a:pPr>
            <a:r>
              <a:t>Tokens available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06840" y="4078224"/>
            <a:ext cx="2606040" cy="1042415"/>
          </a:xfrm>
          <a:prstGeom prst="roundRect">
            <a:avLst>
              <a:gd name="adj" fmla="val 13000"/>
            </a:avLst>
          </a:prstGeom>
          <a:solidFill>
            <a:srgbClr val="192C44"/>
          </a:solidFill>
          <a:ln w="19050">
            <a:solidFill>
              <a:srgbClr val="FF91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53144" y="4242816"/>
            <a:ext cx="2313432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FF919D"/>
                </a:solidFill>
                <a:latin typeface="Aptos"/>
              </a:defRPr>
            </a:pPr>
            <a:r>
              <a:t>429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53144" y="4709160"/>
            <a:ext cx="2313432" cy="37490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700" b="0">
                <a:solidFill>
                  <a:srgbClr val="F2F7FC"/>
                </a:solidFill>
                <a:latin typeface="Aptos"/>
              </a:defRPr>
            </a:pPr>
            <a:r>
              <a:t>Retry-After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3154680" y="4251960"/>
            <a:ext cx="1271016" cy="347472"/>
          </a:xfrm>
          <a:prstGeom prst="line">
            <a:avLst/>
          </a:prstGeom>
          <a:ln w="26670">
            <a:solidFill>
              <a:srgbClr val="48DF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717536" y="4251960"/>
            <a:ext cx="1289304" cy="347472"/>
          </a:xfrm>
          <a:prstGeom prst="line">
            <a:avLst/>
          </a:prstGeom>
          <a:ln w="26670">
            <a:solidFill>
              <a:srgbClr val="FF919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480560" y="5138928"/>
            <a:ext cx="320040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600" b="0">
                <a:solidFill>
                  <a:srgbClr val="A9BDD1"/>
                </a:solidFill>
                <a:latin typeface="Aptos"/>
              </a:defRPr>
            </a:pPr>
            <a:r>
              <a:t>Limit + remaining headers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5852160"/>
            <a:ext cx="1101852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900" b="1">
                <a:solidFill>
                  <a:srgbClr val="48DFC0"/>
                </a:solidFill>
                <a:latin typeface="Aptos"/>
              </a:defRPr>
            </a:pPr>
            <a:r>
              <a:t>Protect shared capacity without treating every caller the same.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8D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98480" y="146304"/>
            <a:ext cx="1097280" cy="1097280"/>
          </a:xfrm>
          <a:prstGeom prst="ellipse">
            <a:avLst/>
          </a:prstGeom>
          <a:solidFill>
            <a:srgbClr val="11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96012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48DFC0"/>
                </a:solidFill>
                <a:latin typeface="Aptos"/>
              </a:defRPr>
            </a:pPr>
            <a:r>
              <a:t>MOONPARK  /  QUOTAS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155680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F2F7FC"/>
                </a:solidFill>
                <a:latin typeface="Aptos"/>
              </a:defRPr>
            </a:pPr>
            <a:r>
              <a:t>A burst is allowed. Sustained overload is not.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463040"/>
            <a:ext cx="10972800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A9BDD1"/>
                </a:solidFill>
                <a:latin typeface="Aptos"/>
              </a:defRPr>
            </a:pPr>
            <a:r>
              <a:t>Bucket capacity controls bursts; refill controls the long-term rate.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55664"/>
            <a:ext cx="11064240" cy="13716"/>
          </a:xfrm>
          <a:prstGeom prst="rect">
            <a:avLst/>
          </a:prstGeom>
          <a:solidFill>
            <a:srgbClr val="29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6455664"/>
            <a:ext cx="6223634" cy="22860"/>
          </a:xfrm>
          <a:prstGeom prst="rect">
            <a:avLst/>
          </a:prstGeom>
          <a:solidFill>
            <a:srgbClr val="48D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9966960" cy="1828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A9BDD1"/>
                </a:solidFill>
                <a:latin typeface="Aptos"/>
              </a:defRPr>
            </a:pPr>
            <a:r>
              <a:t>Sources: RateLimitPlan; Buckets; RedisRateLimitStore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547104"/>
            <a:ext cx="685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A9BDD1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057400"/>
            <a:ext cx="393192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48DFC0"/>
                </a:solidFill>
                <a:latin typeface="Aptos"/>
              </a:defRPr>
            </a:pPr>
            <a:r>
              <a:t>STANDARD PLAN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00200" y="2971800"/>
            <a:ext cx="2423160" cy="2057400"/>
          </a:xfrm>
          <a:prstGeom prst="roundRect">
            <a:avLst>
              <a:gd name="adj" fmla="val 13000"/>
            </a:avLst>
          </a:prstGeom>
          <a:solidFill>
            <a:srgbClr val="192C44"/>
          </a:solidFill>
          <a:ln w="19050">
            <a:solidFill>
              <a:srgbClr val="48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828800" y="3328416"/>
            <a:ext cx="292608" cy="292608"/>
          </a:xfrm>
          <a:prstGeom prst="ellipse">
            <a:avLst/>
          </a:prstGeom>
          <a:solidFill>
            <a:srgbClr val="48D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340864" y="3328416"/>
            <a:ext cx="292608" cy="292608"/>
          </a:xfrm>
          <a:prstGeom prst="ellipse">
            <a:avLst/>
          </a:prstGeom>
          <a:solidFill>
            <a:srgbClr val="48D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852928" y="3328416"/>
            <a:ext cx="292608" cy="292608"/>
          </a:xfrm>
          <a:prstGeom prst="ellipse">
            <a:avLst/>
          </a:prstGeom>
          <a:solidFill>
            <a:srgbClr val="48D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364992" y="3328416"/>
            <a:ext cx="292608" cy="292608"/>
          </a:xfrm>
          <a:prstGeom prst="ellipse">
            <a:avLst/>
          </a:prstGeom>
          <a:solidFill>
            <a:srgbClr val="48D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828800" y="3776472"/>
            <a:ext cx="292608" cy="292608"/>
          </a:xfrm>
          <a:prstGeom prst="ellipse">
            <a:avLst/>
          </a:prstGeom>
          <a:solidFill>
            <a:srgbClr val="48D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340864" y="3776472"/>
            <a:ext cx="292608" cy="292608"/>
          </a:xfrm>
          <a:prstGeom prst="ellipse">
            <a:avLst/>
          </a:prstGeom>
          <a:solidFill>
            <a:srgbClr val="48D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852928" y="3776472"/>
            <a:ext cx="292608" cy="292608"/>
          </a:xfrm>
          <a:prstGeom prst="ellipse">
            <a:avLst/>
          </a:prstGeom>
          <a:solidFill>
            <a:srgbClr val="48D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364992" y="3776472"/>
            <a:ext cx="292608" cy="292608"/>
          </a:xfrm>
          <a:prstGeom prst="ellipse">
            <a:avLst/>
          </a:prstGeom>
          <a:solidFill>
            <a:srgbClr val="48D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828800" y="4224528"/>
            <a:ext cx="292608" cy="292608"/>
          </a:xfrm>
          <a:prstGeom prst="ellipse">
            <a:avLst/>
          </a:prstGeom>
          <a:solidFill>
            <a:srgbClr val="48D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340864" y="4224528"/>
            <a:ext cx="292608" cy="292608"/>
          </a:xfrm>
          <a:prstGeom prst="ellipse">
            <a:avLst/>
          </a:prstGeom>
          <a:solidFill>
            <a:srgbClr val="48D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852928" y="4224528"/>
            <a:ext cx="292608" cy="292608"/>
          </a:xfrm>
          <a:prstGeom prst="ellipse">
            <a:avLst/>
          </a:prstGeom>
          <a:solidFill>
            <a:srgbClr val="48D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364992" y="4224528"/>
            <a:ext cx="292608" cy="292608"/>
          </a:xfrm>
          <a:prstGeom prst="ellipse">
            <a:avLst/>
          </a:prstGeom>
          <a:solidFill>
            <a:srgbClr val="48D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2816352" y="2560320"/>
            <a:ext cx="0" cy="411480"/>
          </a:xfrm>
          <a:prstGeom prst="line">
            <a:avLst/>
          </a:prstGeom>
          <a:ln w="26670">
            <a:solidFill>
              <a:srgbClr val="48DF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94360" y="5257800"/>
            <a:ext cx="457200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F2F7FC"/>
                </a:solidFill>
                <a:latin typeface="Aptos"/>
              </a:defRPr>
            </a:pPr>
            <a:r>
              <a:t>100 burst tokens  /  600 refill per minute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023360" y="4096512"/>
            <a:ext cx="914400" cy="0"/>
          </a:xfrm>
          <a:prstGeom prst="line">
            <a:avLst/>
          </a:prstGeom>
          <a:ln w="26670">
            <a:solidFill>
              <a:srgbClr val="48DF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343400" y="3291840"/>
            <a:ext cx="914400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300" b="0">
                <a:solidFill>
                  <a:srgbClr val="A9BDD1"/>
                </a:solidFill>
                <a:latin typeface="Aptos"/>
              </a:defRPr>
            </a:pPr>
            <a:r>
              <a:t>1 or 10</a:t>
            </a:r>
          </a:p>
          <a:p>
            <a:pPr algn="ctr">
              <a:spcAft>
                <a:spcPts val="500"/>
              </a:spcAft>
              <a:defRPr sz="1300" b="0">
                <a:solidFill>
                  <a:srgbClr val="A9BDD1"/>
                </a:solidFill>
                <a:latin typeface="Aptos"/>
              </a:defRPr>
            </a:pPr>
            <a:r>
              <a:t>tokens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79008" y="2103120"/>
            <a:ext cx="548640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A9BDD1"/>
                </a:solidFill>
                <a:latin typeface="Aptos"/>
              </a:defRPr>
            </a:pPr>
            <a:r>
              <a:t>PLAN                 REFILL/MIN       BURST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96128" y="2697480"/>
            <a:ext cx="5806440" cy="438912"/>
          </a:xfrm>
          <a:prstGeom prst="roundRect">
            <a:avLst>
              <a:gd name="adj" fmla="val 13000"/>
            </a:avLst>
          </a:prstGeom>
          <a:solidFill>
            <a:srgbClr val="192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79008" y="2779776"/>
            <a:ext cx="219456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F2F7FC"/>
                </a:solidFill>
                <a:latin typeface="Aptos"/>
              </a:defRPr>
            </a:pPr>
            <a:r>
              <a:t>ANONYMOUS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57616" y="2779776"/>
            <a:ext cx="118872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600" b="0">
                <a:solidFill>
                  <a:srgbClr val="F2F7FC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86416" y="2779776"/>
            <a:ext cx="9144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600" b="0">
                <a:solidFill>
                  <a:srgbClr val="F2F7FC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596128" y="3218688"/>
            <a:ext cx="5806440" cy="438912"/>
          </a:xfrm>
          <a:prstGeom prst="roundRect">
            <a:avLst>
              <a:gd name="adj" fmla="val 13000"/>
            </a:avLst>
          </a:prstGeom>
          <a:solidFill>
            <a:srgbClr val="192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79008" y="3300984"/>
            <a:ext cx="219456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F2F7FC"/>
                </a:solidFill>
                <a:latin typeface="Aptos"/>
              </a:defRPr>
            </a:pPr>
            <a:r>
              <a:t>FREE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57616" y="3300984"/>
            <a:ext cx="118872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600" b="0">
                <a:solidFill>
                  <a:srgbClr val="F2F7FC"/>
                </a:solidFill>
                <a:latin typeface="Aptos"/>
              </a:defRPr>
            </a:pPr>
            <a:r>
              <a:t>60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86416" y="3300984"/>
            <a:ext cx="9144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600" b="0">
                <a:solidFill>
                  <a:srgbClr val="F2F7FC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596128" y="3739896"/>
            <a:ext cx="5806440" cy="438912"/>
          </a:xfrm>
          <a:prstGeom prst="roundRect">
            <a:avLst>
              <a:gd name="adj" fmla="val 13000"/>
            </a:avLst>
          </a:prstGeom>
          <a:solidFill>
            <a:srgbClr val="192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79008" y="3822191"/>
            <a:ext cx="219456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48DFC0"/>
                </a:solidFill>
                <a:latin typeface="Aptos"/>
              </a:defRPr>
            </a:pPr>
            <a:r>
              <a:t>STANDARD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57616" y="3822191"/>
            <a:ext cx="118872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600" b="0">
                <a:solidFill>
                  <a:srgbClr val="F2F7FC"/>
                </a:solidFill>
                <a:latin typeface="Aptos"/>
              </a:defRPr>
            </a:pPr>
            <a:r>
              <a:t>600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86416" y="3822191"/>
            <a:ext cx="9144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600" b="0">
                <a:solidFill>
                  <a:srgbClr val="F2F7FC"/>
                </a:solidFill>
                <a:latin typeface="Aptos"/>
              </a:defRPr>
            </a:pPr>
            <a:r>
              <a:t>100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596128" y="4261104"/>
            <a:ext cx="5806440" cy="438912"/>
          </a:xfrm>
          <a:prstGeom prst="roundRect">
            <a:avLst>
              <a:gd name="adj" fmla="val 13000"/>
            </a:avLst>
          </a:prstGeom>
          <a:solidFill>
            <a:srgbClr val="192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779008" y="4343400"/>
            <a:ext cx="219456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F2F7FC"/>
                </a:solidFill>
                <a:latin typeface="Aptos"/>
              </a:defRPr>
            </a:pPr>
            <a:r>
              <a:t>PARTNER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57616" y="4343400"/>
            <a:ext cx="118872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600" b="0">
                <a:solidFill>
                  <a:srgbClr val="F2F7FC"/>
                </a:solidFill>
                <a:latin typeface="Aptos"/>
              </a:defRPr>
            </a:pPr>
            <a:r>
              <a:t>6,000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86416" y="4343400"/>
            <a:ext cx="9144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600" b="0">
                <a:solidFill>
                  <a:srgbClr val="F2F7FC"/>
                </a:solidFill>
                <a:latin typeface="Aptos"/>
              </a:defRPr>
            </a:pPr>
            <a:r>
              <a:t>500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596128" y="4782312"/>
            <a:ext cx="5806440" cy="438912"/>
          </a:xfrm>
          <a:prstGeom prst="roundRect">
            <a:avLst>
              <a:gd name="adj" fmla="val 13000"/>
            </a:avLst>
          </a:prstGeom>
          <a:solidFill>
            <a:srgbClr val="192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779008" y="4864608"/>
            <a:ext cx="219456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F2F7FC"/>
                </a:solidFill>
                <a:latin typeface="Aptos"/>
              </a:defRPr>
            </a:pPr>
            <a:r>
              <a:t>INTERNAL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57616" y="4864608"/>
            <a:ext cx="118872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600" b="0">
                <a:solidFill>
                  <a:srgbClr val="F2F7FC"/>
                </a:solidFill>
                <a:latin typeface="Aptos"/>
              </a:defRPr>
            </a:pPr>
            <a:r>
              <a:t>6,000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186416" y="4864608"/>
            <a:ext cx="9144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600" b="0">
                <a:solidFill>
                  <a:srgbClr val="F2F7FC"/>
                </a:solidFill>
                <a:latin typeface="Aptos"/>
              </a:defRPr>
            </a:pPr>
            <a:r>
              <a:t>500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4360" y="5852160"/>
            <a:ext cx="1101852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900" b="1">
                <a:solidFill>
                  <a:srgbClr val="FFCB77"/>
                </a:solidFill>
                <a:latin typeface="Aptos"/>
              </a:defRPr>
            </a:pPr>
            <a:r>
              <a:t>Redis fails &gt; local quotas for 30s &gt; retry Redis. Global limits become less strict.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8D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98480" y="146304"/>
            <a:ext cx="1097280" cy="1097280"/>
          </a:xfrm>
          <a:prstGeom prst="ellipse">
            <a:avLst/>
          </a:prstGeom>
          <a:solidFill>
            <a:srgbClr val="11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96012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48DFC0"/>
                </a:solidFill>
                <a:latin typeface="Aptos"/>
              </a:defRPr>
            </a:pPr>
            <a:r>
              <a:t>MOONPARK  / 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155680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F2F7FC"/>
                </a:solidFill>
                <a:latin typeface="Aptos"/>
              </a:defRPr>
            </a:pPr>
            <a:r>
              <a:t>Protect the boundary. Minimize privilege.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463040"/>
            <a:ext cx="10972800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A9BDD1"/>
                </a:solidFill>
                <a:latin typeface="Aptos"/>
              </a:defRPr>
            </a:pPr>
            <a:r>
              <a:t>Application controls and deployment controls work together.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55664"/>
            <a:ext cx="11064240" cy="13716"/>
          </a:xfrm>
          <a:prstGeom prst="rect">
            <a:avLst/>
          </a:prstGeom>
          <a:solidFill>
            <a:srgbClr val="29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6455664"/>
            <a:ext cx="6915150" cy="22860"/>
          </a:xfrm>
          <a:prstGeom prst="rect">
            <a:avLst/>
          </a:prstGeom>
          <a:solidFill>
            <a:srgbClr val="48D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9966960" cy="1828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A9BDD1"/>
                </a:solidFill>
                <a:latin typeface="Aptos"/>
              </a:defRPr>
            </a:pPr>
            <a:r>
              <a:t>Sources: SecurityConfig; AuthService; ApiKeys; AuditService; README.md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547104"/>
            <a:ext cx="685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A9BDD1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11" name="Pentagon 10"/>
          <p:cNvSpPr/>
          <p:nvPr/>
        </p:nvSpPr>
        <p:spPr>
          <a:xfrm>
            <a:off x="566928" y="2423160"/>
            <a:ext cx="1965960" cy="1965960"/>
          </a:xfrm>
          <a:prstGeom prst="homePlate">
            <a:avLst/>
          </a:prstGeom>
          <a:solidFill>
            <a:srgbClr val="192C44"/>
          </a:solidFill>
          <a:ln w="19050">
            <a:solidFill>
              <a:srgbClr val="FFC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944368"/>
            <a:ext cx="1819656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FFCB77"/>
                </a:solidFill>
                <a:latin typeface="Aptos"/>
              </a:defRPr>
            </a:pPr>
            <a:r>
              <a:t>HTTPS EDGE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584448"/>
            <a:ext cx="1819656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500" b="0">
                <a:solidFill>
                  <a:srgbClr val="F2F7FC"/>
                </a:solidFill>
                <a:latin typeface="Aptos"/>
              </a:defRPr>
            </a:pPr>
            <a:r>
              <a:t>Trusted proxy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32888" y="3246120"/>
            <a:ext cx="365760" cy="0"/>
          </a:xfrm>
          <a:prstGeom prst="line">
            <a:avLst/>
          </a:prstGeom>
          <a:ln w="26670">
            <a:solidFill>
              <a:srgbClr val="48DF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Pentagon 14"/>
          <p:cNvSpPr/>
          <p:nvPr/>
        </p:nvSpPr>
        <p:spPr>
          <a:xfrm>
            <a:off x="2898648" y="2423160"/>
            <a:ext cx="1965960" cy="1965960"/>
          </a:xfrm>
          <a:prstGeom prst="homePlate">
            <a:avLst/>
          </a:prstGeom>
          <a:solidFill>
            <a:srgbClr val="192C44"/>
          </a:solidFill>
          <a:ln w="19050">
            <a:solidFill>
              <a:srgbClr val="48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71800" y="2944368"/>
            <a:ext cx="1819656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48DFC0"/>
                </a:solidFill>
                <a:latin typeface="Aptos"/>
              </a:defRPr>
            </a:pPr>
            <a:r>
              <a:t>IDENTITY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3584448"/>
            <a:ext cx="1819656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500" b="0">
                <a:solidFill>
                  <a:srgbClr val="F2F7FC"/>
                </a:solidFill>
                <a:latin typeface="Aptos"/>
              </a:defRPr>
            </a:pPr>
            <a:r>
              <a:t>Hash + verify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64608" y="3246120"/>
            <a:ext cx="365760" cy="0"/>
          </a:xfrm>
          <a:prstGeom prst="line">
            <a:avLst/>
          </a:prstGeom>
          <a:ln w="26670">
            <a:solidFill>
              <a:srgbClr val="48DF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Pentagon 18"/>
          <p:cNvSpPr/>
          <p:nvPr/>
        </p:nvSpPr>
        <p:spPr>
          <a:xfrm>
            <a:off x="5230368" y="2423160"/>
            <a:ext cx="1965960" cy="1965960"/>
          </a:xfrm>
          <a:prstGeom prst="homePlate">
            <a:avLst/>
          </a:prstGeom>
          <a:solidFill>
            <a:srgbClr val="192C44"/>
          </a:solidFill>
          <a:ln w="19050">
            <a:solidFill>
              <a:srgbClr val="48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0" y="2944368"/>
            <a:ext cx="1819656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48DFC0"/>
                </a:solidFill>
                <a:latin typeface="Aptos"/>
              </a:defRPr>
            </a:pPr>
            <a:r>
              <a:t>QUOTA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3584448"/>
            <a:ext cx="1819656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500" b="0">
                <a:solidFill>
                  <a:srgbClr val="F2F7FC"/>
                </a:solidFill>
                <a:latin typeface="Aptos"/>
              </a:defRPr>
            </a:pPr>
            <a:r>
              <a:t>Bound demand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196327" y="3246120"/>
            <a:ext cx="365761" cy="0"/>
          </a:xfrm>
          <a:prstGeom prst="line">
            <a:avLst/>
          </a:prstGeom>
          <a:ln w="26670">
            <a:solidFill>
              <a:srgbClr val="48DF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Pentagon 22"/>
          <p:cNvSpPr/>
          <p:nvPr/>
        </p:nvSpPr>
        <p:spPr>
          <a:xfrm>
            <a:off x="7562088" y="2423160"/>
            <a:ext cx="1965960" cy="1965960"/>
          </a:xfrm>
          <a:prstGeom prst="homePlate">
            <a:avLst/>
          </a:prstGeom>
          <a:solidFill>
            <a:srgbClr val="192C44"/>
          </a:solidFill>
          <a:ln w="19050">
            <a:solidFill>
              <a:srgbClr val="48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35240" y="2944368"/>
            <a:ext cx="1819656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48DFC0"/>
                </a:solidFill>
                <a:latin typeface="Aptos"/>
              </a:defRPr>
            </a:pPr>
            <a:r>
              <a:t>PERMISSION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40" y="3584448"/>
            <a:ext cx="1819656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500" b="0">
                <a:solidFill>
                  <a:srgbClr val="F2F7FC"/>
                </a:solidFill>
                <a:latin typeface="Aptos"/>
              </a:defRPr>
            </a:pPr>
            <a:r>
              <a:t>Least privilege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528048" y="3246120"/>
            <a:ext cx="365760" cy="0"/>
          </a:xfrm>
          <a:prstGeom prst="line">
            <a:avLst/>
          </a:prstGeom>
          <a:ln w="26670">
            <a:solidFill>
              <a:srgbClr val="48DF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Pentagon 26"/>
          <p:cNvSpPr/>
          <p:nvPr/>
        </p:nvSpPr>
        <p:spPr>
          <a:xfrm>
            <a:off x="9893807" y="2423160"/>
            <a:ext cx="1965960" cy="1965960"/>
          </a:xfrm>
          <a:prstGeom prst="homePlate">
            <a:avLst/>
          </a:prstGeom>
          <a:solidFill>
            <a:srgbClr val="192C44"/>
          </a:solidFill>
          <a:ln w="19050">
            <a:solidFill>
              <a:srgbClr val="48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66959" y="2944368"/>
            <a:ext cx="1819656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48DFC0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59" y="3584448"/>
            <a:ext cx="1819656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500" b="0">
                <a:solidFill>
                  <a:srgbClr val="F2F7FC"/>
                </a:solidFill>
                <a:latin typeface="Aptos"/>
              </a:defRPr>
            </a:pPr>
            <a:r>
              <a:t>Safe inputs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4983480"/>
            <a:ext cx="3108960" cy="411480"/>
          </a:xfrm>
          <a:prstGeom prst="roundRect">
            <a:avLst>
              <a:gd name="adj" fmla="val 13000"/>
            </a:avLst>
          </a:prstGeom>
          <a:solidFill>
            <a:srgbClr val="22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5065776"/>
            <a:ext cx="301752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FFCB77"/>
                </a:solidFill>
                <a:latin typeface="Aptos"/>
              </a:defRPr>
            </a:pPr>
            <a:r>
              <a:t>SECRETS OUTSIDE SOURCE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44568" y="4983480"/>
            <a:ext cx="3108960" cy="411480"/>
          </a:xfrm>
          <a:prstGeom prst="roundRect">
            <a:avLst>
              <a:gd name="adj" fmla="val 13000"/>
            </a:avLst>
          </a:prstGeom>
          <a:solidFill>
            <a:srgbClr val="22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90288" y="5065776"/>
            <a:ext cx="301752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48DFC0"/>
                </a:solidFill>
                <a:latin typeface="Aptos"/>
              </a:defRPr>
            </a:pPr>
            <a:r>
              <a:t>AUDIT ADMIN CHANGES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57031" y="4983480"/>
            <a:ext cx="3108960" cy="411480"/>
          </a:xfrm>
          <a:prstGeom prst="roundRect">
            <a:avLst>
              <a:gd name="adj" fmla="val 13000"/>
            </a:avLst>
          </a:prstGeom>
          <a:solidFill>
            <a:srgbClr val="22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02752" y="5065776"/>
            <a:ext cx="301752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80B8FF"/>
                </a:solidFill>
                <a:latin typeface="Aptos"/>
              </a:defRPr>
            </a:pPr>
            <a:r>
              <a:t>PRIVATE DATA SERVICES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5852160"/>
            <a:ext cx="1101852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900" b="1">
                <a:solidFill>
                  <a:srgbClr val="FFCB77"/>
                </a:solidFill>
                <a:latin typeface="Aptos"/>
              </a:defRPr>
            </a:pPr>
            <a:r>
              <a:t>CSRF disabled for header-based stateless auth; revisit if cookies are introduced.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8D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98480" y="146304"/>
            <a:ext cx="1097280" cy="1097280"/>
          </a:xfrm>
          <a:prstGeom prst="ellipse">
            <a:avLst/>
          </a:prstGeom>
          <a:solidFill>
            <a:srgbClr val="11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96012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48DFC0"/>
                </a:solidFill>
                <a:latin typeface="Aptos"/>
              </a:defRPr>
            </a:pPr>
            <a:r>
              <a:t>MOONPARK  /  CACHE CONSISTENCY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155680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F2F7FC"/>
                </a:solidFill>
                <a:latin typeface="Aptos"/>
              </a:defRPr>
            </a:pPr>
            <a:r>
              <a:t>One source of truth. Local speed.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463040"/>
            <a:ext cx="10972800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A9BDD1"/>
                </a:solidFill>
                <a:latin typeface="Aptos"/>
              </a:defRPr>
            </a:pPr>
            <a:r>
              <a:t>Changes are immediate locally and eventually visible across instances.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55664"/>
            <a:ext cx="11064240" cy="13716"/>
          </a:xfrm>
          <a:prstGeom prst="rect">
            <a:avLst/>
          </a:prstGeom>
          <a:solidFill>
            <a:srgbClr val="29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6455664"/>
            <a:ext cx="7606665" cy="22860"/>
          </a:xfrm>
          <a:prstGeom prst="rect">
            <a:avLst/>
          </a:prstGeom>
          <a:solidFill>
            <a:srgbClr val="48D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9966960" cy="1828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A9BDD1"/>
                </a:solidFill>
                <a:latin typeface="Aptos"/>
              </a:defRPr>
            </a:pPr>
            <a:r>
              <a:t>Sources: CachedTariffRegistry; TariffRefreshScheduler; application.yml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547104"/>
            <a:ext cx="685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A9BDD1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468880"/>
            <a:ext cx="2286000" cy="1097280"/>
          </a:xfrm>
          <a:prstGeom prst="roundRect">
            <a:avLst>
              <a:gd name="adj" fmla="val 13000"/>
            </a:avLst>
          </a:prstGeom>
          <a:solidFill>
            <a:srgbClr val="192C44"/>
          </a:solidFill>
          <a:ln w="19050">
            <a:solidFill>
              <a:srgbClr val="48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2633472"/>
            <a:ext cx="1993392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48DFC0"/>
                </a:solidFill>
                <a:latin typeface="Aptos"/>
              </a:defRPr>
            </a:pPr>
            <a:r>
              <a:t>ADMIN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3099816"/>
            <a:ext cx="1993392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700" b="0">
                <a:solidFill>
                  <a:srgbClr val="F2F7FC"/>
                </a:solidFill>
                <a:latin typeface="Aptos"/>
              </a:defRPr>
            </a:pPr>
            <a:r>
              <a:t>Commit tariff change</a:t>
            </a:r>
          </a:p>
        </p:txBody>
      </p:sp>
      <p:sp>
        <p:nvSpPr>
          <p:cNvPr id="14" name="Can 13"/>
          <p:cNvSpPr/>
          <p:nvPr/>
        </p:nvSpPr>
        <p:spPr>
          <a:xfrm>
            <a:off x="3794760" y="2212848"/>
            <a:ext cx="2743200" cy="1143000"/>
          </a:xfrm>
          <a:prstGeom prst="can">
            <a:avLst/>
          </a:prstGeom>
          <a:solidFill>
            <a:srgbClr val="192C44"/>
          </a:solidFill>
          <a:ln w="19050">
            <a:solidFill>
              <a:srgbClr val="80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86200" y="2514600"/>
            <a:ext cx="256032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80B8FF"/>
                </a:solidFill>
                <a:latin typeface="Aptos"/>
              </a:defRPr>
            </a:pPr>
            <a:r>
              <a:t>POSTGRESQL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538728"/>
            <a:ext cx="3017520" cy="5303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500" b="0">
                <a:solidFill>
                  <a:srgbClr val="A9BDD1"/>
                </a:solidFill>
                <a:latin typeface="Aptos"/>
              </a:defRPr>
            </a:pPr>
            <a:r>
              <a:t>Versioned tariff definitions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834640" y="3017520"/>
            <a:ext cx="960120" cy="0"/>
          </a:xfrm>
          <a:prstGeom prst="line">
            <a:avLst/>
          </a:prstGeom>
          <a:ln w="26670">
            <a:solidFill>
              <a:srgbClr val="48DF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229600" y="2029968"/>
            <a:ext cx="3337560" cy="1188720"/>
          </a:xfrm>
          <a:prstGeom prst="roundRect">
            <a:avLst>
              <a:gd name="adj" fmla="val 13000"/>
            </a:avLst>
          </a:prstGeom>
          <a:solidFill>
            <a:srgbClr val="192C44"/>
          </a:solidFill>
          <a:ln w="19050">
            <a:solidFill>
              <a:srgbClr val="48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5904" y="2194560"/>
            <a:ext cx="3044952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48DFC0"/>
                </a:solidFill>
                <a:latin typeface="Aptos"/>
              </a:defRPr>
            </a:pPr>
            <a:r>
              <a:t>INSTANCE 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4" y="2660904"/>
            <a:ext cx="3044952" cy="5212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700" b="0">
                <a:solidFill>
                  <a:srgbClr val="F2F7FC"/>
                </a:solidFill>
                <a:latin typeface="Aptos"/>
              </a:defRPr>
            </a:pPr>
            <a:r>
              <a:t>After-commit refresh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4005072"/>
            <a:ext cx="3337560" cy="1188720"/>
          </a:xfrm>
          <a:prstGeom prst="roundRect">
            <a:avLst>
              <a:gd name="adj" fmla="val 13000"/>
            </a:avLst>
          </a:prstGeom>
          <a:solidFill>
            <a:srgbClr val="192C44"/>
          </a:solidFill>
          <a:ln w="19050">
            <a:solidFill>
              <a:srgbClr val="80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75904" y="4169663"/>
            <a:ext cx="3044952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80B8FF"/>
                </a:solidFill>
                <a:latin typeface="Aptos"/>
              </a:defRPr>
            </a:pPr>
            <a:r>
              <a:t>INSTANCE 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75904" y="4636008"/>
            <a:ext cx="3044952" cy="5212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700" b="0">
                <a:solidFill>
                  <a:srgbClr val="F2F7FC"/>
                </a:solidFill>
                <a:latin typeface="Aptos"/>
              </a:defRPr>
            </a:pPr>
            <a:r>
              <a:t>60s scheduled refresh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6537960" y="2624328"/>
            <a:ext cx="1691640" cy="118872"/>
          </a:xfrm>
          <a:prstGeom prst="line">
            <a:avLst/>
          </a:prstGeom>
          <a:ln w="26670">
            <a:solidFill>
              <a:srgbClr val="48DF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537960" y="3017520"/>
            <a:ext cx="1691640" cy="1581912"/>
          </a:xfrm>
          <a:prstGeom prst="line">
            <a:avLst/>
          </a:prstGeom>
          <a:ln w="26670">
            <a:solidFill>
              <a:srgbClr val="80B8FF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66760" y="3364992"/>
            <a:ext cx="3063240" cy="411480"/>
          </a:xfrm>
          <a:prstGeom prst="roundRect">
            <a:avLst>
              <a:gd name="adj" fmla="val 13000"/>
            </a:avLst>
          </a:prstGeom>
          <a:solidFill>
            <a:srgbClr val="22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3447288"/>
            <a:ext cx="29718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48DFC0"/>
                </a:solidFill>
                <a:latin typeface="Aptos"/>
              </a:defRPr>
            </a:pPr>
            <a:r>
              <a:t>Registry + local fee cache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66760" y="5330952"/>
            <a:ext cx="3063240" cy="411480"/>
          </a:xfrm>
          <a:prstGeom prst="roundRect">
            <a:avLst>
              <a:gd name="adj" fmla="val 13000"/>
            </a:avLst>
          </a:prstGeom>
          <a:solidFill>
            <a:srgbClr val="22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0" y="5413248"/>
            <a:ext cx="29718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80B8FF"/>
                </a:solidFill>
                <a:latin typeface="Aptos"/>
              </a:defRPr>
            </a:pPr>
            <a:r>
              <a:t>Registry + local fee cache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663440"/>
            <a:ext cx="6080760" cy="7315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A9BDD1"/>
                </a:solidFill>
                <a:latin typeface="Aptos"/>
              </a:defRPr>
            </a:pPr>
            <a:r>
              <a:t>Fee cache: 10-minute TTL / up to 100k entries</a:t>
            </a:r>
          </a:p>
          <a:p>
            <a:pPr>
              <a:spcAft>
                <a:spcPts val="500"/>
              </a:spcAft>
              <a:defRPr sz="1800" b="0">
                <a:solidFill>
                  <a:srgbClr val="A9BDD1"/>
                </a:solidFill>
                <a:latin typeface="Aptos"/>
              </a:defRPr>
            </a:pPr>
            <a:r>
              <a:t>Refresh failure: keep last loaded tariffs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5852160"/>
            <a:ext cx="1101852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900" b="1">
                <a:solidFill>
                  <a:srgbClr val="48DFC0"/>
                </a:solidFill>
                <a:latin typeface="Aptos"/>
              </a:defRPr>
            </a:pPr>
            <a:r>
              <a:t>Tariff-version changes clear fee caches when each instance observes the update.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8D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98480" y="146304"/>
            <a:ext cx="1097280" cy="1097280"/>
          </a:xfrm>
          <a:prstGeom prst="ellipse">
            <a:avLst/>
          </a:prstGeom>
          <a:solidFill>
            <a:srgbClr val="11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96012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48DFC0"/>
                </a:solidFill>
                <a:latin typeface="Aptos"/>
              </a:defRPr>
            </a:pPr>
            <a:r>
              <a:t>MOONPARK  /  RESILIENCE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155680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F2F7FC"/>
                </a:solidFill>
                <a:latin typeface="Aptos"/>
              </a:defRPr>
            </a:pPr>
            <a:r>
              <a:t>Keep serving where it is safe to do so.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463040"/>
            <a:ext cx="10972800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A9BDD1"/>
                </a:solidFill>
                <a:latin typeface="Aptos"/>
              </a:defRPr>
            </a:pPr>
            <a:r>
              <a:t>Availability is an explicit policy, not a blanket fail-open.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55664"/>
            <a:ext cx="11064240" cy="13716"/>
          </a:xfrm>
          <a:prstGeom prst="rect">
            <a:avLst/>
          </a:prstGeom>
          <a:solidFill>
            <a:srgbClr val="29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6455664"/>
            <a:ext cx="8298179" cy="22860"/>
          </a:xfrm>
          <a:prstGeom prst="rect">
            <a:avLst/>
          </a:prstGeom>
          <a:solidFill>
            <a:srgbClr val="48D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9966960" cy="1828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A9BDD1"/>
                </a:solidFill>
                <a:latin typeface="Aptos"/>
              </a:defRPr>
            </a:pPr>
            <a:r>
              <a:t>Sources: RedisRateLimitStore; application.yml; TariffsHealthIndicator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547104"/>
            <a:ext cx="685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A9BDD1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48840"/>
            <a:ext cx="3291840" cy="777240"/>
          </a:xfrm>
          <a:prstGeom prst="roundRect">
            <a:avLst>
              <a:gd name="adj" fmla="val 13000"/>
            </a:avLst>
          </a:prstGeom>
          <a:solidFill>
            <a:srgbClr val="192C44"/>
          </a:solidFill>
          <a:ln w="19050">
            <a:solidFill>
              <a:srgbClr val="FFC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2313432"/>
            <a:ext cx="2999232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900" b="1">
                <a:solidFill>
                  <a:srgbClr val="FFCB77"/>
                </a:solidFill>
                <a:latin typeface="Aptos"/>
              </a:defRPr>
            </a:pPr>
            <a:r>
              <a:t>REDIS DOWN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840480" y="2532888"/>
            <a:ext cx="822960" cy="0"/>
          </a:xfrm>
          <a:prstGeom prst="line">
            <a:avLst/>
          </a:prstGeom>
          <a:ln w="26670">
            <a:solidFill>
              <a:srgbClr val="FFCB7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663440" y="2148840"/>
            <a:ext cx="6903720" cy="777240"/>
          </a:xfrm>
          <a:prstGeom prst="roundRect">
            <a:avLst>
              <a:gd name="adj" fmla="val 13000"/>
            </a:avLst>
          </a:prstGeom>
          <a:solidFill>
            <a:srgbClr val="192C44"/>
          </a:solidFill>
          <a:ln w="19050">
            <a:solidFill>
              <a:srgbClr val="FFC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9744" y="2313432"/>
            <a:ext cx="6611112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2000" b="1">
                <a:solidFill>
                  <a:srgbClr val="FFCB77"/>
                </a:solidFill>
                <a:latin typeface="Aptos"/>
              </a:defRPr>
            </a:pPr>
            <a:r>
              <a:t>Local quotas; retry after 30s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108960"/>
            <a:ext cx="3291840" cy="777240"/>
          </a:xfrm>
          <a:prstGeom prst="roundRect">
            <a:avLst>
              <a:gd name="adj" fmla="val 13000"/>
            </a:avLst>
          </a:prstGeom>
          <a:solidFill>
            <a:srgbClr val="192C44"/>
          </a:solidFill>
          <a:ln w="19050">
            <a:solidFill>
              <a:srgbClr val="80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3273552"/>
            <a:ext cx="2999232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900" b="1">
                <a:solidFill>
                  <a:srgbClr val="80B8FF"/>
                </a:solidFill>
                <a:latin typeface="Aptos"/>
              </a:defRPr>
            </a:pPr>
            <a:r>
              <a:t>CALCULATION SURGE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840480" y="3493008"/>
            <a:ext cx="822960" cy="0"/>
          </a:xfrm>
          <a:prstGeom prst="line">
            <a:avLst/>
          </a:prstGeom>
          <a:ln w="26670">
            <a:solidFill>
              <a:srgbClr val="80B8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663440" y="3108960"/>
            <a:ext cx="6903720" cy="777240"/>
          </a:xfrm>
          <a:prstGeom prst="roundRect">
            <a:avLst>
              <a:gd name="adj" fmla="val 13000"/>
            </a:avLst>
          </a:prstGeom>
          <a:solidFill>
            <a:srgbClr val="192C44"/>
          </a:solidFill>
          <a:ln w="19050">
            <a:solidFill>
              <a:srgbClr val="80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09744" y="3273552"/>
            <a:ext cx="6611112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2000" b="1">
                <a:solidFill>
                  <a:srgbClr val="80B8FF"/>
                </a:solidFill>
                <a:latin typeface="Aptos"/>
              </a:defRPr>
            </a:pPr>
            <a:r>
              <a:t>Bulkhead: 200 calls / 50ms wait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069080"/>
            <a:ext cx="3291840" cy="777240"/>
          </a:xfrm>
          <a:prstGeom prst="roundRect">
            <a:avLst>
              <a:gd name="adj" fmla="val 13000"/>
            </a:avLst>
          </a:prstGeom>
          <a:solidFill>
            <a:srgbClr val="192C44"/>
          </a:solidFill>
          <a:ln w="19050">
            <a:solidFill>
              <a:srgbClr val="FF91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" y="4233672"/>
            <a:ext cx="2999232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900" b="1">
                <a:solidFill>
                  <a:srgbClr val="FF919D"/>
                </a:solidFill>
                <a:latin typeface="Aptos"/>
              </a:defRPr>
            </a:pPr>
            <a:r>
              <a:t>DATABASE DOWN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840480" y="4453128"/>
            <a:ext cx="822960" cy="0"/>
          </a:xfrm>
          <a:prstGeom prst="line">
            <a:avLst/>
          </a:prstGeom>
          <a:ln w="26670">
            <a:solidFill>
              <a:srgbClr val="FF919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663440" y="4069080"/>
            <a:ext cx="6903720" cy="777240"/>
          </a:xfrm>
          <a:prstGeom prst="roundRect">
            <a:avLst>
              <a:gd name="adj" fmla="val 13000"/>
            </a:avLst>
          </a:prstGeom>
          <a:solidFill>
            <a:srgbClr val="192C44"/>
          </a:solidFill>
          <a:ln w="19050">
            <a:solidFill>
              <a:srgbClr val="FF91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09744" y="4233672"/>
            <a:ext cx="6611112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2000" b="1">
                <a:solidFill>
                  <a:srgbClr val="FF919D"/>
                </a:solidFill>
                <a:latin typeface="Aptos"/>
              </a:defRPr>
            </a:pPr>
            <a:r>
              <a:t>Readiness can stop traffic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5303520"/>
            <a:ext cx="2880360" cy="411480"/>
          </a:xfrm>
          <a:prstGeom prst="roundRect">
            <a:avLst>
              <a:gd name="adj" fmla="val 13000"/>
            </a:avLst>
          </a:prstGeom>
          <a:solidFill>
            <a:srgbClr val="22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5385816"/>
            <a:ext cx="278892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48DFC0"/>
                </a:solidFill>
                <a:latin typeface="Aptos"/>
              </a:defRPr>
            </a:pPr>
            <a:r>
              <a:t>LOGS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3440" y="5303520"/>
            <a:ext cx="2880360" cy="411480"/>
          </a:xfrm>
          <a:prstGeom prst="roundRect">
            <a:avLst>
              <a:gd name="adj" fmla="val 13000"/>
            </a:avLst>
          </a:prstGeom>
          <a:solidFill>
            <a:srgbClr val="22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09159" y="5385816"/>
            <a:ext cx="278892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48DFC0"/>
                </a:solidFill>
                <a:latin typeface="Aptos"/>
              </a:defRPr>
            </a:pPr>
            <a:r>
              <a:t>METRICS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12480" y="5303520"/>
            <a:ext cx="2880360" cy="411480"/>
          </a:xfrm>
          <a:prstGeom prst="roundRect">
            <a:avLst>
              <a:gd name="adj" fmla="val 13000"/>
            </a:avLst>
          </a:prstGeom>
          <a:solidFill>
            <a:srgbClr val="22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58200" y="5385816"/>
            <a:ext cx="278892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48DFC0"/>
                </a:solidFill>
                <a:latin typeface="Aptos"/>
              </a:defRPr>
            </a:pPr>
            <a:r>
              <a:t>TRACES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5852160"/>
            <a:ext cx="1101852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900" b="1">
                <a:solidFill>
                  <a:srgbClr val="48DFC0"/>
                </a:solidFill>
                <a:latin typeface="Aptos"/>
              </a:defRPr>
            </a:pPr>
            <a:r>
              <a:t>Liveness: restart?    Readiness: receive traffic?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8D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98480" y="146304"/>
            <a:ext cx="1097280" cy="1097280"/>
          </a:xfrm>
          <a:prstGeom prst="ellipse">
            <a:avLst/>
          </a:prstGeom>
          <a:solidFill>
            <a:srgbClr val="11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96012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48DFC0"/>
                </a:solidFill>
                <a:latin typeface="Aptos"/>
              </a:defRPr>
            </a:pPr>
            <a:r>
              <a:t>MOONPARK  / 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155680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F2F7FC"/>
                </a:solidFill>
                <a:latin typeface="Aptos"/>
              </a:defRPr>
            </a:pPr>
            <a:r>
              <a:t>Build confidence before shipping code.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463040"/>
            <a:ext cx="10972800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A9BDD1"/>
                </a:solidFill>
                <a:latin typeface="Aptos"/>
              </a:defRPr>
            </a:pPr>
            <a:r>
              <a:t>Test the rules. Verify integration. Package consistently.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55664"/>
            <a:ext cx="11064240" cy="13716"/>
          </a:xfrm>
          <a:prstGeom prst="rect">
            <a:avLst/>
          </a:prstGeom>
          <a:solidFill>
            <a:srgbClr val="29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6455664"/>
            <a:ext cx="8989694" cy="22860"/>
          </a:xfrm>
          <a:prstGeom prst="rect">
            <a:avLst/>
          </a:prstGeom>
          <a:solidFill>
            <a:srgbClr val="48D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9966960" cy="1828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A9BDD1"/>
                </a:solidFill>
                <a:latin typeface="Aptos"/>
              </a:defRPr>
            </a:pPr>
            <a:r>
              <a:t>Sources: build.gradle; src/test; Dockerfile; README.md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547104"/>
            <a:ext cx="685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A9BDD1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11" name="Oval 10"/>
          <p:cNvSpPr/>
          <p:nvPr/>
        </p:nvSpPr>
        <p:spPr>
          <a:xfrm>
            <a:off x="1188719" y="2331720"/>
            <a:ext cx="1115568" cy="1115568"/>
          </a:xfrm>
          <a:prstGeom prst="ellipse">
            <a:avLst/>
          </a:prstGeom>
          <a:solidFill>
            <a:srgbClr val="192C44"/>
          </a:solidFill>
          <a:ln w="19050">
            <a:solidFill>
              <a:srgbClr val="48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52728" y="2644079"/>
            <a:ext cx="987552" cy="63587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2800" b="1">
                <a:solidFill>
                  <a:srgbClr val="48DFC0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730752"/>
            <a:ext cx="2468880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2300" b="1">
                <a:solidFill>
                  <a:srgbClr val="48DFC0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389120"/>
            <a:ext cx="2468880" cy="60350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700" b="0">
                <a:solidFill>
                  <a:srgbClr val="F2F7FC"/>
                </a:solidFill>
                <a:latin typeface="Aptos"/>
              </a:defRPr>
            </a:pPr>
            <a:r>
              <a:t>Domain + MVC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304288" y="2889504"/>
            <a:ext cx="1746503" cy="0"/>
          </a:xfrm>
          <a:prstGeom prst="line">
            <a:avLst/>
          </a:prstGeom>
          <a:ln w="26670">
            <a:solidFill>
              <a:srgbClr val="48DF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050791" y="2331720"/>
            <a:ext cx="1115568" cy="1115568"/>
          </a:xfrm>
          <a:prstGeom prst="ellipse">
            <a:avLst/>
          </a:prstGeom>
          <a:solidFill>
            <a:srgbClr val="192C44"/>
          </a:solidFill>
          <a:ln w="19050">
            <a:solidFill>
              <a:srgbClr val="80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2644079"/>
            <a:ext cx="987552" cy="63587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2800" b="1">
                <a:solidFill>
                  <a:srgbClr val="80B8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10712" y="3730752"/>
            <a:ext cx="2468880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2300" b="1">
                <a:solidFill>
                  <a:srgbClr val="80B8FF"/>
                </a:solidFill>
                <a:latin typeface="Aptos"/>
              </a:defRPr>
            </a:pPr>
            <a:r>
              <a:t>INTEGRATE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10712" y="4389120"/>
            <a:ext cx="2468880" cy="60350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700" b="0">
                <a:solidFill>
                  <a:srgbClr val="F2F7FC"/>
                </a:solidFill>
                <a:latin typeface="Aptos"/>
              </a:defRPr>
            </a:pPr>
            <a:r>
              <a:t>PostgreSQL containers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166360" y="2889504"/>
            <a:ext cx="1746504" cy="0"/>
          </a:xfrm>
          <a:prstGeom prst="line">
            <a:avLst/>
          </a:prstGeom>
          <a:ln w="26670">
            <a:solidFill>
              <a:srgbClr val="80B8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6912864" y="2331720"/>
            <a:ext cx="1115568" cy="1115568"/>
          </a:xfrm>
          <a:prstGeom prst="ellipse">
            <a:avLst/>
          </a:prstGeom>
          <a:solidFill>
            <a:srgbClr val="192C44"/>
          </a:solidFill>
          <a:ln w="19050">
            <a:solidFill>
              <a:srgbClr val="48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76872" y="2644079"/>
            <a:ext cx="987552" cy="63587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2800" b="1">
                <a:solidFill>
                  <a:srgbClr val="48DFC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2783" y="3730752"/>
            <a:ext cx="2468880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2300" b="1">
                <a:solidFill>
                  <a:srgbClr val="48DFC0"/>
                </a:solidFill>
                <a:latin typeface="Aptos"/>
              </a:defRPr>
            </a:pPr>
            <a:r>
              <a:t>PACKAGE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2783" y="4389120"/>
            <a:ext cx="2468880" cy="60350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700" b="0">
                <a:solidFill>
                  <a:srgbClr val="F2F7FC"/>
                </a:solidFill>
                <a:latin typeface="Aptos"/>
              </a:defRPr>
            </a:pPr>
            <a:r>
              <a:t>JAR / non-root image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028431" y="2889504"/>
            <a:ext cx="1746505" cy="0"/>
          </a:xfrm>
          <a:prstGeom prst="line">
            <a:avLst/>
          </a:prstGeom>
          <a:ln w="26670">
            <a:solidFill>
              <a:srgbClr val="48DF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9774936" y="2331720"/>
            <a:ext cx="1115568" cy="1115568"/>
          </a:xfrm>
          <a:prstGeom prst="ellipse">
            <a:avLst/>
          </a:prstGeom>
          <a:solidFill>
            <a:srgbClr val="192C44"/>
          </a:solidFill>
          <a:ln w="19050">
            <a:solidFill>
              <a:srgbClr val="FFC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38944" y="2644079"/>
            <a:ext cx="987552" cy="63587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2800" b="1">
                <a:solidFill>
                  <a:srgbClr val="FFCB77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4856" y="3730752"/>
            <a:ext cx="2468880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2300" b="1">
                <a:solidFill>
                  <a:srgbClr val="FFCB77"/>
                </a:solidFill>
                <a:latin typeface="Aptos"/>
              </a:defRPr>
            </a:pPr>
            <a:r>
              <a:t>DEPLOY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34856" y="4389120"/>
            <a:ext cx="2468880" cy="60350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700" b="0">
                <a:solidFill>
                  <a:srgbClr val="F2F7FC"/>
                </a:solidFill>
                <a:latin typeface="Aptos"/>
              </a:defRPr>
            </a:pPr>
            <a:r>
              <a:t>Migrate + check health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88720" y="5349240"/>
            <a:ext cx="4480560" cy="411480"/>
          </a:xfrm>
          <a:prstGeom prst="roundRect">
            <a:avLst>
              <a:gd name="adj" fmla="val 13000"/>
            </a:avLst>
          </a:prstGeom>
          <a:solidFill>
            <a:srgbClr val="22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34440" y="5431536"/>
            <a:ext cx="438912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48DFC0"/>
                </a:solidFill>
                <a:latin typeface="Aptos"/>
              </a:defRPr>
            </a:pPr>
            <a:r>
              <a:t>Configured: 90% domain-package coverage gate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5349240"/>
            <a:ext cx="4480560" cy="411480"/>
          </a:xfrm>
          <a:prstGeom prst="roundRect">
            <a:avLst>
              <a:gd name="adj" fmla="val 13000"/>
            </a:avLst>
          </a:prstGeom>
          <a:solidFill>
            <a:srgbClr val="22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5431536"/>
            <a:ext cx="438912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FFCB77"/>
                </a:solidFill>
                <a:latin typeface="Aptos"/>
              </a:defRPr>
            </a:pPr>
            <a:r>
              <a:t>Docker absent? Integration tests may skip.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5852160"/>
            <a:ext cx="1101852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900" b="1">
                <a:solidFill>
                  <a:srgbClr val="FFCB77"/>
                </a:solidFill>
                <a:latin typeface="Aptos"/>
              </a:defRPr>
            </a:pPr>
            <a:r>
              <a:t>A configured gate is not evidence of a passing build.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8D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98480" y="146304"/>
            <a:ext cx="1097280" cy="1097280"/>
          </a:xfrm>
          <a:prstGeom prst="ellipse">
            <a:avLst/>
          </a:prstGeom>
          <a:solidFill>
            <a:srgbClr val="11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96012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48DFC0"/>
                </a:solidFill>
                <a:latin typeface="Aptos"/>
              </a:defRPr>
            </a:pPr>
            <a:r>
              <a:t>MOONPARK  / 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155680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F2F7FC"/>
                </a:solidFill>
                <a:latin typeface="Aptos"/>
              </a:defRPr>
            </a:pPr>
            <a:r>
              <a:t>Show the contract in four moments.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463040"/>
            <a:ext cx="10972800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A9BDD1"/>
                </a:solidFill>
                <a:latin typeface="Aptos"/>
              </a:defRPr>
            </a:pPr>
            <a:r>
              <a:t>Prepared Swagger requests. Local development data only.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55664"/>
            <a:ext cx="11064240" cy="13716"/>
          </a:xfrm>
          <a:prstGeom prst="rect">
            <a:avLst/>
          </a:prstGeom>
          <a:solidFill>
            <a:srgbClr val="29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6455664"/>
            <a:ext cx="9681210" cy="22860"/>
          </a:xfrm>
          <a:prstGeom prst="rect">
            <a:avLst/>
          </a:prstGeom>
          <a:solidFill>
            <a:srgbClr val="48D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9966960" cy="1828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A9BDD1"/>
                </a:solidFill>
                <a:latin typeface="Aptos"/>
              </a:defRPr>
            </a:pPr>
            <a:r>
              <a:t>Sources: README.md; TariffController; SecurityConfig; RateLimitFilter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547104"/>
            <a:ext cx="685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A9BDD1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148840"/>
            <a:ext cx="5303520" cy="1508760"/>
          </a:xfrm>
          <a:prstGeom prst="roundRect">
            <a:avLst>
              <a:gd name="adj" fmla="val 13000"/>
            </a:avLst>
          </a:prstGeom>
          <a:solidFill>
            <a:srgbClr val="192C44"/>
          </a:solidFill>
          <a:ln w="19050">
            <a:solidFill>
              <a:srgbClr val="48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2331720"/>
            <a:ext cx="47548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48DFC0"/>
                </a:solidFill>
                <a:latin typeface="Aptos"/>
              </a:defRPr>
            </a:pPr>
            <a:r>
              <a:t>01  QUOTE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2843784"/>
            <a:ext cx="2377440" cy="6583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500"/>
              </a:spcAft>
              <a:defRPr sz="3200" b="1">
                <a:solidFill>
                  <a:srgbClr val="F2F7FC"/>
                </a:solidFill>
                <a:latin typeface="Aptos"/>
              </a:defRPr>
            </a:pPr>
            <a:r>
              <a:t>61 NOK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2944368"/>
            <a:ext cx="2423160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A9BDD1"/>
                </a:solidFill>
                <a:latin typeface="Aptos"/>
              </a:defRPr>
            </a:pPr>
            <a:r>
              <a:t>M1  /  08:00-09:01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48840"/>
            <a:ext cx="5303520" cy="1508760"/>
          </a:xfrm>
          <a:prstGeom prst="roundRect">
            <a:avLst>
              <a:gd name="adj" fmla="val 13000"/>
            </a:avLst>
          </a:prstGeom>
          <a:solidFill>
            <a:srgbClr val="192C44"/>
          </a:solidFill>
          <a:ln w="19050">
            <a:solidFill>
              <a:srgbClr val="80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4807" y="2331720"/>
            <a:ext cx="47548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80B8FF"/>
                </a:solidFill>
                <a:latin typeface="Aptos"/>
              </a:defRPr>
            </a:pPr>
            <a:r>
              <a:t>02  LOGIN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7" y="2843784"/>
            <a:ext cx="2377440" cy="6583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500"/>
              </a:spcAft>
              <a:defRPr sz="3200" b="1">
                <a:solidFill>
                  <a:srgbClr val="F2F7FC"/>
                </a:solidFill>
                <a:latin typeface="Aptos"/>
              </a:defRPr>
            </a:pPr>
            <a:r>
              <a:t>JWT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2944368"/>
            <a:ext cx="2423160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A9BDD1"/>
                </a:solidFill>
                <a:latin typeface="Aptos"/>
              </a:defRPr>
            </a:pPr>
            <a:r>
              <a:t>Signed access token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977639"/>
            <a:ext cx="5303520" cy="1508760"/>
          </a:xfrm>
          <a:prstGeom prst="roundRect">
            <a:avLst>
              <a:gd name="adj" fmla="val 13000"/>
            </a:avLst>
          </a:prstGeom>
          <a:solidFill>
            <a:srgbClr val="192C44"/>
          </a:solidFill>
          <a:ln w="19050">
            <a:solidFill>
              <a:srgbClr val="FFC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4160520"/>
            <a:ext cx="47548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FCB77"/>
                </a:solidFill>
                <a:latin typeface="Aptos"/>
              </a:defRPr>
            </a:pPr>
            <a:r>
              <a:t>03  PERMISSION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4672583"/>
            <a:ext cx="2377440" cy="6583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500"/>
              </a:spcAft>
              <a:defRPr sz="3200" b="1">
                <a:solidFill>
                  <a:srgbClr val="F2F7FC"/>
                </a:solidFill>
                <a:latin typeface="Aptos"/>
              </a:defRPr>
            </a:pPr>
            <a:r>
              <a:t>403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46120" y="4773168"/>
            <a:ext cx="2423160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A9BDD1"/>
                </a:solidFill>
                <a:latin typeface="Aptos"/>
              </a:defRPr>
            </a:pPr>
            <a:r>
              <a:t>Missing required authority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3977639"/>
            <a:ext cx="5303520" cy="1508760"/>
          </a:xfrm>
          <a:prstGeom prst="roundRect">
            <a:avLst>
              <a:gd name="adj" fmla="val 13000"/>
            </a:avLst>
          </a:prstGeom>
          <a:solidFill>
            <a:srgbClr val="192C44"/>
          </a:solidFill>
          <a:ln w="19050">
            <a:solidFill>
              <a:srgbClr val="FF91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64807" y="4160520"/>
            <a:ext cx="47548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F919D"/>
                </a:solidFill>
                <a:latin typeface="Aptos"/>
              </a:defRPr>
            </a:pPr>
            <a:r>
              <a:t>04  QUOTA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4807" y="4672583"/>
            <a:ext cx="2377440" cy="6583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500"/>
              </a:spcAft>
              <a:defRPr sz="3200" b="1">
                <a:solidFill>
                  <a:srgbClr val="F2F7FC"/>
                </a:solidFill>
                <a:latin typeface="Aptos"/>
              </a:defRPr>
            </a:pPr>
            <a:r>
              <a:t>429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400" y="4773168"/>
            <a:ext cx="2423160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A9BDD1"/>
                </a:solidFill>
                <a:latin typeface="Aptos"/>
              </a:defRPr>
            </a:pPr>
            <a:r>
              <a:t>Retry-After header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852160"/>
            <a:ext cx="1101852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900" b="1">
                <a:solidFill>
                  <a:srgbClr val="48DFC0"/>
                </a:solidFill>
                <a:latin typeface="Aptos"/>
              </a:defRPr>
            </a:pPr>
            <a:r>
              <a:t>Quote example: 22 Oct 2026, using the seeded tariff.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8D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98480" y="146304"/>
            <a:ext cx="1097280" cy="1097280"/>
          </a:xfrm>
          <a:prstGeom prst="ellipse">
            <a:avLst/>
          </a:prstGeom>
          <a:solidFill>
            <a:srgbClr val="11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96012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48DFC0"/>
                </a:solidFill>
                <a:latin typeface="Aptos"/>
              </a:defRPr>
            </a:pPr>
            <a:r>
              <a:t>MOONPARK  /  EVOLUTION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155680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F2F7FC"/>
                </a:solidFill>
                <a:latin typeface="Aptos"/>
              </a:defRPr>
            </a:pPr>
            <a:r>
              <a:t>A focused foundation. A clear path forward.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463040"/>
            <a:ext cx="10972800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A9BDD1"/>
                </a:solidFill>
                <a:latin typeface="Aptos"/>
              </a:defRPr>
            </a:pPr>
            <a:r>
              <a:t>Next improvements follow the application's actual tradeoffs.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55664"/>
            <a:ext cx="11064240" cy="13716"/>
          </a:xfrm>
          <a:prstGeom prst="rect">
            <a:avLst/>
          </a:prstGeom>
          <a:solidFill>
            <a:srgbClr val="29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6455664"/>
            <a:ext cx="10372725" cy="22860"/>
          </a:xfrm>
          <a:prstGeom prst="rect">
            <a:avLst/>
          </a:prstGeom>
          <a:solidFill>
            <a:srgbClr val="48D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9966960" cy="1828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A9BDD1"/>
                </a:solidFill>
                <a:latin typeface="Aptos"/>
              </a:defRPr>
            </a:pPr>
            <a:r>
              <a:t>Sources: JwtConfig; ApiClientService; RedisRateLimitStore; README.md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547104"/>
            <a:ext cx="685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A9BDD1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11" name="Oval 10"/>
          <p:cNvSpPr/>
          <p:nvPr/>
        </p:nvSpPr>
        <p:spPr>
          <a:xfrm>
            <a:off x="1463040" y="2331720"/>
            <a:ext cx="1143000" cy="1143000"/>
          </a:xfrm>
          <a:prstGeom prst="ellipse">
            <a:avLst/>
          </a:prstGeom>
          <a:solidFill>
            <a:srgbClr val="192C44"/>
          </a:solidFill>
          <a:ln w="19050">
            <a:solidFill>
              <a:srgbClr val="80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27048" y="2651760"/>
            <a:ext cx="1014983" cy="651509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3000" b="1">
                <a:solidFill>
                  <a:srgbClr val="80B8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59" y="3730752"/>
            <a:ext cx="324612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2200" b="1">
                <a:solidFill>
                  <a:srgbClr val="80B8FF"/>
                </a:solidFill>
                <a:latin typeface="Aptos"/>
              </a:defRPr>
            </a:pPr>
            <a:r>
              <a:t>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59" y="4553712"/>
            <a:ext cx="3246120" cy="9144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2000" b="0">
                <a:solidFill>
                  <a:srgbClr val="F2F7FC"/>
                </a:solidFill>
                <a:latin typeface="Aptos"/>
              </a:defRPr>
            </a:pPr>
            <a:r>
              <a:t>External IdP</a:t>
            </a:r>
          </a:p>
          <a:p>
            <a:pPr algn="ctr">
              <a:spcAft>
                <a:spcPts val="500"/>
              </a:spcAft>
              <a:defRPr sz="2000" b="0">
                <a:solidFill>
                  <a:srgbClr val="F2F7FC"/>
                </a:solidFill>
                <a:latin typeface="Aptos"/>
              </a:defRPr>
            </a:pPr>
            <a:r>
              <a:t>Token revocation</a:t>
            </a:r>
          </a:p>
        </p:txBody>
      </p:sp>
      <p:sp>
        <p:nvSpPr>
          <p:cNvPr id="15" name="Oval 14"/>
          <p:cNvSpPr/>
          <p:nvPr/>
        </p:nvSpPr>
        <p:spPr>
          <a:xfrm>
            <a:off x="5303520" y="2331720"/>
            <a:ext cx="1143000" cy="1143000"/>
          </a:xfrm>
          <a:prstGeom prst="ellipse">
            <a:avLst/>
          </a:prstGeom>
          <a:solidFill>
            <a:srgbClr val="192C44"/>
          </a:solidFill>
          <a:ln w="19050">
            <a:solidFill>
              <a:srgbClr val="FFC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67528" y="2651760"/>
            <a:ext cx="1014983" cy="651509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3000" b="1">
                <a:solidFill>
                  <a:srgbClr val="FFCB77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3730752"/>
            <a:ext cx="324612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2200" b="1">
                <a:solidFill>
                  <a:srgbClr val="FFCB77"/>
                </a:solidFill>
                <a:latin typeface="Aptos"/>
              </a:defRPr>
            </a:pPr>
            <a:r>
              <a:t>EDGE PROTECTION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4553712"/>
            <a:ext cx="3246120" cy="9144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2000" b="0">
                <a:solidFill>
                  <a:srgbClr val="F2F7FC"/>
                </a:solidFill>
                <a:latin typeface="Aptos"/>
              </a:defRPr>
            </a:pPr>
            <a:r>
              <a:t>Pre-auth throttling</a:t>
            </a:r>
          </a:p>
          <a:p>
            <a:pPr algn="ctr">
              <a:spcAft>
                <a:spcPts val="500"/>
              </a:spcAft>
              <a:defRPr sz="2000" b="0">
                <a:solidFill>
                  <a:srgbClr val="F2F7FC"/>
                </a:solidFill>
                <a:latin typeface="Aptos"/>
              </a:defRPr>
            </a:pPr>
            <a:r>
              <a:t>Redis TLS / cluster support</a:t>
            </a:r>
          </a:p>
        </p:txBody>
      </p:sp>
      <p:sp>
        <p:nvSpPr>
          <p:cNvPr id="19" name="Oval 18"/>
          <p:cNvSpPr/>
          <p:nvPr/>
        </p:nvSpPr>
        <p:spPr>
          <a:xfrm>
            <a:off x="9144000" y="2331720"/>
            <a:ext cx="1143000" cy="1143000"/>
          </a:xfrm>
          <a:prstGeom prst="ellipse">
            <a:avLst/>
          </a:prstGeom>
          <a:solidFill>
            <a:srgbClr val="192C44"/>
          </a:solidFill>
          <a:ln w="19050">
            <a:solidFill>
              <a:srgbClr val="48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08008" y="2651760"/>
            <a:ext cx="1014983" cy="651509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3000" b="1">
                <a:solidFill>
                  <a:srgbClr val="48DFC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19" y="3730752"/>
            <a:ext cx="324612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2200" b="1">
                <a:solidFill>
                  <a:srgbClr val="48DFC0"/>
                </a:solidFill>
                <a:latin typeface="Aptos"/>
              </a:defRPr>
            </a:pPr>
            <a:r>
              <a:t>CONSISTENCY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19" y="4553712"/>
            <a:ext cx="3246120" cy="9144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2000" b="0">
                <a:solidFill>
                  <a:srgbClr val="F2F7FC"/>
                </a:solidFill>
                <a:latin typeface="Aptos"/>
              </a:defRPr>
            </a:pPr>
            <a:r>
              <a:t>Cross-instance</a:t>
            </a:r>
          </a:p>
          <a:p>
            <a:pPr algn="ctr">
              <a:spcAft>
                <a:spcPts val="500"/>
              </a:spcAft>
              <a:defRPr sz="2000" b="0">
                <a:solidFill>
                  <a:srgbClr val="F2F7FC"/>
                </a:solidFill>
                <a:latin typeface="Aptos"/>
              </a:defRPr>
            </a:pPr>
            <a:r>
              <a:t>cache invalidation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606040" y="2898648"/>
            <a:ext cx="2697480" cy="0"/>
          </a:xfrm>
          <a:prstGeom prst="line">
            <a:avLst/>
          </a:prstGeom>
          <a:ln w="26670">
            <a:solidFill>
              <a:srgbClr val="80B8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446520" y="2898648"/>
            <a:ext cx="2697480" cy="0"/>
          </a:xfrm>
          <a:prstGeom prst="line">
            <a:avLst/>
          </a:prstGeom>
          <a:ln w="26670">
            <a:solidFill>
              <a:srgbClr val="FFCB7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94360" y="5852160"/>
            <a:ext cx="1101852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900" b="1">
                <a:solidFill>
                  <a:srgbClr val="48DFC0"/>
                </a:solidFill>
                <a:latin typeface="Aptos"/>
              </a:defRPr>
            </a:pPr>
            <a:r>
              <a:t>Evolve deliberately. Measure before scaling.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8D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98480" y="146304"/>
            <a:ext cx="1097280" cy="1097280"/>
          </a:xfrm>
          <a:prstGeom prst="ellipse">
            <a:avLst/>
          </a:prstGeom>
          <a:solidFill>
            <a:srgbClr val="11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96012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48DFC0"/>
                </a:solidFill>
                <a:latin typeface="Aptos"/>
              </a:defRPr>
            </a:pPr>
            <a:r>
              <a:t>MOONPARK  /  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155680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F2F7FC"/>
                </a:solidFill>
                <a:latin typeface="Aptos"/>
              </a:defRPr>
            </a:pPr>
            <a:r>
              <a:t>Simple to use. Thoughtful underneath.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55664"/>
            <a:ext cx="11064240" cy="13716"/>
          </a:xfrm>
          <a:prstGeom prst="rect">
            <a:avLst/>
          </a:prstGeom>
          <a:solidFill>
            <a:srgbClr val="29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55664"/>
            <a:ext cx="11064240" cy="22860"/>
          </a:xfrm>
          <a:prstGeom prst="rect">
            <a:avLst/>
          </a:prstGeom>
          <a:solidFill>
            <a:srgbClr val="48D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83680"/>
            <a:ext cx="9966960" cy="1828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A9BDD1"/>
                </a:solidFill>
                <a:latin typeface="Aptos"/>
              </a:defRPr>
            </a:pPr>
            <a:r>
              <a:t>MoonPark Pricing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547104"/>
            <a:ext cx="685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A9BDD1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10698480" cy="1463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3700" b="1">
                <a:solidFill>
                  <a:srgbClr val="F2F7FC"/>
                </a:solidFill>
                <a:latin typeface="Aptos"/>
              </a:defRPr>
            </a:pPr>
            <a:r>
              <a:t>Turning complex parking rules</a:t>
            </a:r>
          </a:p>
          <a:p>
            <a:pPr algn="ctr">
              <a:spcAft>
                <a:spcPts val="500"/>
              </a:spcAft>
              <a:defRPr sz="3700" b="1">
                <a:solidFill>
                  <a:srgbClr val="F2F7FC"/>
                </a:solidFill>
                <a:latin typeface="Aptos"/>
              </a:defRPr>
            </a:pPr>
            <a:r>
              <a:t>into clear, dependable answers.</a:t>
            </a:r>
          </a:p>
        </p:txBody>
      </p:sp>
      <p:sp>
        <p:nvSpPr>
          <p:cNvPr id="11" name="Oval 10"/>
          <p:cNvSpPr/>
          <p:nvPr/>
        </p:nvSpPr>
        <p:spPr>
          <a:xfrm>
            <a:off x="1280160" y="4224528"/>
            <a:ext cx="658368" cy="658368"/>
          </a:xfrm>
          <a:prstGeom prst="ellipse">
            <a:avLst/>
          </a:prstGeom>
          <a:solidFill>
            <a:srgbClr val="192C44"/>
          </a:solidFill>
          <a:ln w="19050">
            <a:solidFill>
              <a:srgbClr val="48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4408871"/>
            <a:ext cx="530352" cy="375269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2600" b="1">
                <a:solidFill>
                  <a:srgbClr val="48DFC0"/>
                </a:solidFill>
                <a:latin typeface="Aptos"/>
              </a:defRPr>
            </a:pPr>
            <a:r>
              <a:t>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148072"/>
            <a:ext cx="274320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48DFC0"/>
                </a:solidFill>
                <a:latin typeface="Aptos"/>
              </a:defRPr>
            </a:pPr>
            <a:r>
              <a:t>CORRECT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605272"/>
            <a:ext cx="274320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600" b="0">
                <a:solidFill>
                  <a:srgbClr val="A9BDD1"/>
                </a:solidFill>
                <a:latin typeface="Aptos"/>
              </a:defRPr>
            </a:pPr>
            <a:r>
              <a:t>Rules made explicit</a:t>
            </a:r>
          </a:p>
        </p:txBody>
      </p:sp>
      <p:sp>
        <p:nvSpPr>
          <p:cNvPr id="15" name="Oval 14"/>
          <p:cNvSpPr/>
          <p:nvPr/>
        </p:nvSpPr>
        <p:spPr>
          <a:xfrm>
            <a:off x="5029200" y="4224528"/>
            <a:ext cx="658368" cy="658368"/>
          </a:xfrm>
          <a:prstGeom prst="ellipse">
            <a:avLst/>
          </a:prstGeom>
          <a:solidFill>
            <a:srgbClr val="192C44"/>
          </a:solidFill>
          <a:ln w="19050">
            <a:solidFill>
              <a:srgbClr val="80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93208" y="4408871"/>
            <a:ext cx="530352" cy="375269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2600" b="1">
                <a:solidFill>
                  <a:srgbClr val="80B8FF"/>
                </a:solidFill>
                <a:latin typeface="Aptos"/>
              </a:defRPr>
            </a:pPr>
            <a:r>
              <a:t>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5148072"/>
            <a:ext cx="274320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80B8FF"/>
                </a:solidFill>
                <a:latin typeface="Aptos"/>
              </a:defRPr>
            </a:pPr>
            <a:r>
              <a:t>PROTECTED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5605272"/>
            <a:ext cx="274320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600" b="0">
                <a:solidFill>
                  <a:srgbClr val="A9BDD1"/>
                </a:solidFill>
                <a:latin typeface="Aptos"/>
              </a:defRPr>
            </a:pPr>
            <a:r>
              <a:t>Access by design</a:t>
            </a:r>
          </a:p>
        </p:txBody>
      </p:sp>
      <p:sp>
        <p:nvSpPr>
          <p:cNvPr id="19" name="Oval 18"/>
          <p:cNvSpPr/>
          <p:nvPr/>
        </p:nvSpPr>
        <p:spPr>
          <a:xfrm>
            <a:off x="8778240" y="4224528"/>
            <a:ext cx="658368" cy="658368"/>
          </a:xfrm>
          <a:prstGeom prst="ellipse">
            <a:avLst/>
          </a:prstGeom>
          <a:solidFill>
            <a:srgbClr val="192C44"/>
          </a:solidFill>
          <a:ln w="19050">
            <a:solidFill>
              <a:srgbClr val="FFC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42248" y="4408871"/>
            <a:ext cx="530352" cy="375269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2600" b="1">
                <a:solidFill>
                  <a:srgbClr val="FFCB77"/>
                </a:solidFill>
                <a:latin typeface="Aptos"/>
              </a:defRPr>
            </a:pPr>
            <a:r>
              <a:t>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59" y="5148072"/>
            <a:ext cx="274320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FFCB77"/>
                </a:solidFill>
                <a:latin typeface="Aptos"/>
              </a:defRPr>
            </a:pPr>
            <a:r>
              <a:t>EXTENSIBLE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59" y="5605272"/>
            <a:ext cx="274320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spcAft>
                <a:spcPts val="500"/>
              </a:spcAft>
              <a:defRPr sz="1600" b="0">
                <a:solidFill>
                  <a:srgbClr val="A9BDD1"/>
                </a:solidFill>
                <a:latin typeface="Aptos"/>
              </a:defRPr>
            </a:pPr>
            <a:r>
              <a:t>Built to evolve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MoonPark Pricing Engine - Visual Interview Presentation</dc:title>
  <dc:subject>20-minute diagram-led presentation; no speaking notes</dc:subject>
  <dc:creator>MoonPark</dc:creator>
  <cp:keywords>architecture, security, login, diagrams, rate limiting</cp:keywords>
  <dc:description>Editable diagrams; repository-based technical content.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